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Helios Extended Bold" charset="1" panose="02000805050000020004"/>
      <p:regular r:id="rId27"/>
    </p:embeddedFont>
    <p:embeddedFont>
      <p:font typeface="Heebo Bold" charset="1" panose="00000800000000000000"/>
      <p:regular r:id="rId28"/>
    </p:embeddedFont>
    <p:embeddedFont>
      <p:font typeface="Canva Sans" charset="1" panose="020B0503030501040103"/>
      <p:regular r:id="rId29"/>
    </p:embeddedFont>
    <p:embeddedFont>
      <p:font typeface="Lato" charset="1" panose="020F0502020204030203"/>
      <p:regular r:id="rId30"/>
    </p:embeddedFont>
    <p:embeddedFont>
      <p:font typeface="Canva Sans Bold" charset="1" panose="020B0803030501040103"/>
      <p:regular r:id="rId31"/>
    </p:embeddedFont>
    <p:embeddedFont>
      <p:font typeface="Lato Bold" charset="1" panose="020F0502020204030203"/>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79408" y="286695"/>
            <a:ext cx="2093817" cy="2149466"/>
          </a:xfrm>
          <a:custGeom>
            <a:avLst/>
            <a:gdLst/>
            <a:ahLst/>
            <a:cxnLst/>
            <a:rect r="r" b="b" t="t" l="l"/>
            <a:pathLst>
              <a:path h="2149466" w="2093817">
                <a:moveTo>
                  <a:pt x="0" y="0"/>
                </a:moveTo>
                <a:lnTo>
                  <a:pt x="2093817" y="0"/>
                </a:lnTo>
                <a:lnTo>
                  <a:pt x="2093817" y="2149466"/>
                </a:lnTo>
                <a:lnTo>
                  <a:pt x="0" y="2149466"/>
                </a:lnTo>
                <a:lnTo>
                  <a:pt x="0" y="0"/>
                </a:lnTo>
                <a:close/>
              </a:path>
            </a:pathLst>
          </a:custGeom>
          <a:blipFill>
            <a:blip r:embed="rId2"/>
            <a:stretch>
              <a:fillRect l="0" t="0" r="0" b="0"/>
            </a:stretch>
          </a:blipFill>
        </p:spPr>
      </p:sp>
      <p:sp>
        <p:nvSpPr>
          <p:cNvPr name="Freeform 6" id="6"/>
          <p:cNvSpPr/>
          <p:nvPr/>
        </p:nvSpPr>
        <p:spPr>
          <a:xfrm flipH="false" flipV="false" rot="0">
            <a:off x="12779710" y="286695"/>
            <a:ext cx="5100328" cy="1949404"/>
          </a:xfrm>
          <a:custGeom>
            <a:avLst/>
            <a:gdLst/>
            <a:ahLst/>
            <a:cxnLst/>
            <a:rect r="r" b="b" t="t" l="l"/>
            <a:pathLst>
              <a:path h="1949404" w="5100328">
                <a:moveTo>
                  <a:pt x="0" y="0"/>
                </a:moveTo>
                <a:lnTo>
                  <a:pt x="5100328" y="0"/>
                </a:lnTo>
                <a:lnTo>
                  <a:pt x="5100328" y="1949404"/>
                </a:lnTo>
                <a:lnTo>
                  <a:pt x="0" y="1949404"/>
                </a:lnTo>
                <a:lnTo>
                  <a:pt x="0" y="0"/>
                </a:lnTo>
                <a:close/>
              </a:path>
            </a:pathLst>
          </a:custGeom>
          <a:blipFill>
            <a:blip r:embed="rId3"/>
            <a:stretch>
              <a:fillRect l="0" t="0" r="0" b="0"/>
            </a:stretch>
          </a:blipFill>
        </p:spPr>
      </p:sp>
      <p:sp>
        <p:nvSpPr>
          <p:cNvPr name="TextBox 7" id="7"/>
          <p:cNvSpPr txBox="true"/>
          <p:nvPr/>
        </p:nvSpPr>
        <p:spPr>
          <a:xfrm rot="0">
            <a:off x="2644361" y="2274236"/>
            <a:ext cx="12371749"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CAREPOINT</a:t>
            </a:r>
          </a:p>
        </p:txBody>
      </p:sp>
      <p:sp>
        <p:nvSpPr>
          <p:cNvPr name="TextBox 8" id="8"/>
          <p:cNvSpPr txBox="true"/>
          <p:nvPr/>
        </p:nvSpPr>
        <p:spPr>
          <a:xfrm rot="0">
            <a:off x="2644361" y="3293411"/>
            <a:ext cx="12371749" cy="521336"/>
          </a:xfrm>
          <a:prstGeom prst="rect">
            <a:avLst/>
          </a:prstGeom>
        </p:spPr>
        <p:txBody>
          <a:bodyPr anchor="t" rtlCol="false" tIns="0" lIns="0" bIns="0" rIns="0">
            <a:spAutoFit/>
          </a:bodyPr>
          <a:lstStyle/>
          <a:p>
            <a:pPr algn="ctr" marL="0" indent="0" lvl="0">
              <a:lnSpc>
                <a:spcPts val="4339"/>
              </a:lnSpc>
            </a:pPr>
            <a:r>
              <a:rPr lang="en-US" b="true" sz="3099" spc="309">
                <a:solidFill>
                  <a:srgbClr val="000000"/>
                </a:solidFill>
                <a:latin typeface="Heebo Bold"/>
                <a:ea typeface="Heebo Bold"/>
                <a:cs typeface="Heebo Bold"/>
                <a:sym typeface="Heebo Bold"/>
              </a:rPr>
              <a:t>DOCTOR APPOITMENT SYSTEM</a:t>
            </a:r>
          </a:p>
        </p:txBody>
      </p:sp>
      <p:sp>
        <p:nvSpPr>
          <p:cNvPr name="TextBox 9" id="9"/>
          <p:cNvSpPr txBox="true"/>
          <p:nvPr/>
        </p:nvSpPr>
        <p:spPr>
          <a:xfrm rot="0">
            <a:off x="1211920" y="4638976"/>
            <a:ext cx="7618315" cy="4180840"/>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CREATED BY:-</a:t>
            </a:r>
          </a:p>
          <a:p>
            <a:pPr algn="l">
              <a:lnSpc>
                <a:spcPts val="4759"/>
              </a:lnSpc>
            </a:pPr>
            <a:r>
              <a:rPr lang="en-US" sz="3399">
                <a:solidFill>
                  <a:srgbClr val="000000"/>
                </a:solidFill>
                <a:latin typeface="Canva Sans"/>
                <a:ea typeface="Canva Sans"/>
                <a:cs typeface="Canva Sans"/>
                <a:sym typeface="Canva Sans"/>
              </a:rPr>
              <a:t>Samrath Abak - 250843020002</a:t>
            </a:r>
          </a:p>
          <a:p>
            <a:pPr algn="l">
              <a:lnSpc>
                <a:spcPts val="4759"/>
              </a:lnSpc>
            </a:pPr>
            <a:r>
              <a:rPr lang="en-US" sz="3399">
                <a:solidFill>
                  <a:srgbClr val="000000"/>
                </a:solidFill>
                <a:latin typeface="Canva Sans"/>
                <a:ea typeface="Canva Sans"/>
                <a:cs typeface="Canva Sans"/>
                <a:sym typeface="Canva Sans"/>
              </a:rPr>
              <a:t>Abhijeet Mele - 250843020003</a:t>
            </a:r>
          </a:p>
          <a:p>
            <a:pPr algn="l">
              <a:lnSpc>
                <a:spcPts val="4759"/>
              </a:lnSpc>
            </a:pPr>
            <a:r>
              <a:rPr lang="en-US" sz="3399">
                <a:solidFill>
                  <a:srgbClr val="000000"/>
                </a:solidFill>
                <a:latin typeface="Canva Sans"/>
                <a:ea typeface="Canva Sans"/>
                <a:cs typeface="Canva Sans"/>
                <a:sym typeface="Canva Sans"/>
              </a:rPr>
              <a:t>Digvijay Lohar - 250843020030</a:t>
            </a:r>
          </a:p>
          <a:p>
            <a:pPr algn="l">
              <a:lnSpc>
                <a:spcPts val="4759"/>
              </a:lnSpc>
            </a:pPr>
            <a:r>
              <a:rPr lang="en-US" sz="3399">
                <a:solidFill>
                  <a:srgbClr val="000000"/>
                </a:solidFill>
                <a:latin typeface="Canva Sans"/>
                <a:ea typeface="Canva Sans"/>
                <a:cs typeface="Canva Sans"/>
                <a:sym typeface="Canva Sans"/>
              </a:rPr>
              <a:t>Gaurav Shiromani - 250843020035</a:t>
            </a:r>
          </a:p>
          <a:p>
            <a:pPr algn="just">
              <a:lnSpc>
                <a:spcPts val="4759"/>
              </a:lnSpc>
            </a:pPr>
          </a:p>
          <a:p>
            <a:pPr algn="ctr">
              <a:lnSpc>
                <a:spcPts val="4759"/>
              </a:lnSpc>
            </a:pPr>
          </a:p>
        </p:txBody>
      </p:sp>
      <p:sp>
        <p:nvSpPr>
          <p:cNvPr name="TextBox 10" id="10"/>
          <p:cNvSpPr txBox="true"/>
          <p:nvPr/>
        </p:nvSpPr>
        <p:spPr>
          <a:xfrm rot="0">
            <a:off x="12746295" y="4563110"/>
            <a:ext cx="5358051" cy="1180465"/>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SUBMITTED TO:-</a:t>
            </a:r>
          </a:p>
          <a:p>
            <a:pPr algn="l">
              <a:lnSpc>
                <a:spcPts val="4759"/>
              </a:lnSpc>
            </a:pPr>
            <a:r>
              <a:rPr lang="en-US" sz="3399">
                <a:solidFill>
                  <a:srgbClr val="000000"/>
                </a:solidFill>
                <a:latin typeface="Canva Sans"/>
                <a:ea typeface="Canva Sans"/>
                <a:cs typeface="Canva Sans"/>
                <a:sym typeface="Canva Sans"/>
              </a:rPr>
              <a:t>Mrs. Bakul Joshi</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67178" y="124014"/>
            <a:ext cx="10030999" cy="1581768"/>
          </a:xfrm>
          <a:prstGeom prst="rect">
            <a:avLst/>
          </a:prstGeom>
        </p:spPr>
        <p:txBody>
          <a:bodyPr anchor="t" rtlCol="false" tIns="0" lIns="0" bIns="0" rIns="0">
            <a:spAutoFit/>
          </a:bodyPr>
          <a:lstStyle/>
          <a:p>
            <a:pPr algn="ctr">
              <a:lnSpc>
                <a:spcPts val="6265"/>
              </a:lnSpc>
            </a:pPr>
            <a:r>
              <a:rPr lang="en-US" b="true" sz="4475" spc="223">
                <a:solidFill>
                  <a:srgbClr val="000000"/>
                </a:solidFill>
                <a:latin typeface="Helios Extended Bold"/>
                <a:ea typeface="Helios Extended Bold"/>
                <a:cs typeface="Helios Extended Bold"/>
                <a:sym typeface="Helios Extended Bold"/>
              </a:rPr>
              <a:t>WHAT IS CAREPOINT ?</a:t>
            </a:r>
          </a:p>
          <a:p>
            <a:pPr algn="ctr" marL="0" indent="0" lvl="0">
              <a:lnSpc>
                <a:spcPts val="6265"/>
              </a:lnSpc>
            </a:pPr>
          </a:p>
        </p:txBody>
      </p:sp>
      <p:sp>
        <p:nvSpPr>
          <p:cNvPr name="TextBox 3" id="3"/>
          <p:cNvSpPr txBox="true"/>
          <p:nvPr/>
        </p:nvSpPr>
        <p:spPr>
          <a:xfrm rot="0">
            <a:off x="1379470"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6756291"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02</a:t>
            </a:r>
          </a:p>
        </p:txBody>
      </p:sp>
      <p:sp>
        <p:nvSpPr>
          <p:cNvPr name="TextBox 5" id="5"/>
          <p:cNvSpPr txBox="true"/>
          <p:nvPr/>
        </p:nvSpPr>
        <p:spPr>
          <a:xfrm rot="0">
            <a:off x="1379470" y="6251281"/>
            <a:ext cx="5155173" cy="1123240"/>
          </a:xfrm>
          <a:prstGeom prst="rect">
            <a:avLst/>
          </a:prstGeom>
        </p:spPr>
        <p:txBody>
          <a:bodyPr anchor="t" rtlCol="false" tIns="0" lIns="0" bIns="0" rIns="0">
            <a:spAutoFit/>
          </a:bodyPr>
          <a:lstStyle/>
          <a:p>
            <a:pPr algn="ctr">
              <a:lnSpc>
                <a:spcPts val="3087"/>
              </a:lnSpc>
            </a:pPr>
            <a:r>
              <a:rPr lang="en-US" b="true" sz="2205" spc="220">
                <a:solidFill>
                  <a:srgbClr val="4E6E81"/>
                </a:solidFill>
                <a:latin typeface="Heebo Bold"/>
                <a:ea typeface="Heebo Bold"/>
                <a:cs typeface="Heebo Bold"/>
                <a:sym typeface="Heebo Bold"/>
              </a:rPr>
              <a:t>SMART PATIENT MANAGEMENT</a:t>
            </a:r>
          </a:p>
          <a:p>
            <a:pPr algn="ctr">
              <a:lnSpc>
                <a:spcPts val="3087"/>
              </a:lnSpc>
            </a:pPr>
          </a:p>
          <a:p>
            <a:pPr algn="ctr" marL="0" indent="0" lvl="0">
              <a:lnSpc>
                <a:spcPts val="3087"/>
              </a:lnSpc>
            </a:pPr>
          </a:p>
        </p:txBody>
      </p:sp>
      <p:sp>
        <p:nvSpPr>
          <p:cNvPr name="TextBox 6" id="6"/>
          <p:cNvSpPr txBox="true"/>
          <p:nvPr/>
        </p:nvSpPr>
        <p:spPr>
          <a:xfrm rot="0">
            <a:off x="6756291" y="6232231"/>
            <a:ext cx="5376822" cy="789305"/>
          </a:xfrm>
          <a:prstGeom prst="rect">
            <a:avLst/>
          </a:prstGeom>
        </p:spPr>
        <p:txBody>
          <a:bodyPr anchor="t" rtlCol="false" tIns="0" lIns="0" bIns="0" rIns="0">
            <a:spAutoFit/>
          </a:bodyPr>
          <a:lstStyle/>
          <a:p>
            <a:pPr algn="ctr">
              <a:lnSpc>
                <a:spcPts val="3219"/>
              </a:lnSpc>
            </a:pPr>
            <a:r>
              <a:rPr lang="en-US" b="true" sz="2299" spc="229">
                <a:solidFill>
                  <a:srgbClr val="4E6E81"/>
                </a:solidFill>
                <a:latin typeface="Heebo Bold"/>
                <a:ea typeface="Heebo Bold"/>
                <a:cs typeface="Heebo Bold"/>
                <a:sym typeface="Heebo Bold"/>
              </a:rPr>
              <a:t>ONLINE APPOINTMENT  BOOKING</a:t>
            </a:r>
          </a:p>
          <a:p>
            <a:pPr algn="ctr" marL="0" indent="0" lvl="0">
              <a:lnSpc>
                <a:spcPts val="3219"/>
              </a:lnSpc>
            </a:pPr>
          </a:p>
        </p:txBody>
      </p:sp>
      <p:sp>
        <p:nvSpPr>
          <p:cNvPr name="TextBox 7" id="7"/>
          <p:cNvSpPr txBox="true"/>
          <p:nvPr/>
        </p:nvSpPr>
        <p:spPr>
          <a:xfrm rot="0">
            <a:off x="12133113" y="6232231"/>
            <a:ext cx="4775418" cy="789305"/>
          </a:xfrm>
          <a:prstGeom prst="rect">
            <a:avLst/>
          </a:prstGeom>
        </p:spPr>
        <p:txBody>
          <a:bodyPr anchor="t" rtlCol="false" tIns="0" lIns="0" bIns="0" rIns="0">
            <a:spAutoFit/>
          </a:bodyPr>
          <a:lstStyle/>
          <a:p>
            <a:pPr algn="ctr">
              <a:lnSpc>
                <a:spcPts val="3219"/>
              </a:lnSpc>
            </a:pPr>
            <a:r>
              <a:rPr lang="en-US" b="true" sz="2299" spc="229">
                <a:solidFill>
                  <a:srgbClr val="4E6E81"/>
                </a:solidFill>
                <a:latin typeface="Heebo Bold"/>
                <a:ea typeface="Heebo Bold"/>
                <a:cs typeface="Heebo Bold"/>
                <a:sym typeface="Heebo Bold"/>
              </a:rPr>
              <a:t>TRUSTED PLATFORM</a:t>
            </a:r>
          </a:p>
          <a:p>
            <a:pPr algn="ctr" marL="0" indent="0" lvl="0">
              <a:lnSpc>
                <a:spcPts val="3219"/>
              </a:lnSpc>
            </a:pPr>
          </a:p>
        </p:txBody>
      </p:sp>
      <p:sp>
        <p:nvSpPr>
          <p:cNvPr name="TextBox 8" id="8"/>
          <p:cNvSpPr txBox="true"/>
          <p:nvPr/>
        </p:nvSpPr>
        <p:spPr>
          <a:xfrm rot="0">
            <a:off x="1379470" y="6597161"/>
            <a:ext cx="4775418" cy="2612390"/>
          </a:xfrm>
          <a:prstGeom prst="rect">
            <a:avLst/>
          </a:prstGeom>
        </p:spPr>
        <p:txBody>
          <a:bodyPr anchor="t" rtlCol="false" tIns="0" lIns="0" bIns="0" rIns="0">
            <a:spAutoFit/>
          </a:bodyPr>
          <a:lstStyle/>
          <a:p>
            <a:pPr algn="just" marL="0" indent="0" lvl="0">
              <a:lnSpc>
                <a:spcPts val="3519"/>
              </a:lnSpc>
            </a:pPr>
            <a:r>
              <a:rPr lang="en-US" sz="2199" spc="219">
                <a:solidFill>
                  <a:srgbClr val="000000"/>
                </a:solidFill>
                <a:latin typeface="Lato"/>
                <a:ea typeface="Lato"/>
                <a:cs typeface="Lato"/>
                <a:sym typeface="Lato"/>
              </a:rPr>
              <a:t>Easily search, view, and manage patient details, medical history, and treatment records in a structured and organized manner.</a:t>
            </a:r>
          </a:p>
          <a:p>
            <a:pPr algn="just" marL="0" indent="0" lvl="0">
              <a:lnSpc>
                <a:spcPts val="3519"/>
              </a:lnSpc>
            </a:pPr>
          </a:p>
        </p:txBody>
      </p:sp>
      <p:sp>
        <p:nvSpPr>
          <p:cNvPr name="TextBox 9" id="9"/>
          <p:cNvSpPr txBox="true"/>
          <p:nvPr/>
        </p:nvSpPr>
        <p:spPr>
          <a:xfrm rot="0">
            <a:off x="6756291" y="6597161"/>
            <a:ext cx="5223653" cy="2174240"/>
          </a:xfrm>
          <a:prstGeom prst="rect">
            <a:avLst/>
          </a:prstGeom>
        </p:spPr>
        <p:txBody>
          <a:bodyPr anchor="t" rtlCol="false" tIns="0" lIns="0" bIns="0" rIns="0">
            <a:spAutoFit/>
          </a:bodyPr>
          <a:lstStyle/>
          <a:p>
            <a:pPr algn="just" marL="0" indent="0" lvl="0">
              <a:lnSpc>
                <a:spcPts val="3519"/>
              </a:lnSpc>
            </a:pPr>
            <a:r>
              <a:rPr lang="en-US" sz="2199" spc="219">
                <a:solidFill>
                  <a:srgbClr val="000000"/>
                </a:solidFill>
                <a:latin typeface="Lato"/>
                <a:ea typeface="Lato"/>
                <a:cs typeface="Lato"/>
                <a:sym typeface="Lato"/>
              </a:rPr>
              <a:t>Patients can book appointments online, while doctors can manage schedules and consultations digitally.</a:t>
            </a:r>
          </a:p>
          <a:p>
            <a:pPr algn="just" marL="0" indent="0" lvl="0">
              <a:lnSpc>
                <a:spcPts val="3519"/>
              </a:lnSpc>
            </a:pPr>
          </a:p>
        </p:txBody>
      </p:sp>
      <p:sp>
        <p:nvSpPr>
          <p:cNvPr name="TextBox 10" id="10"/>
          <p:cNvSpPr txBox="true"/>
          <p:nvPr/>
        </p:nvSpPr>
        <p:spPr>
          <a:xfrm rot="0">
            <a:off x="12352188" y="6597161"/>
            <a:ext cx="4954712" cy="2174240"/>
          </a:xfrm>
          <a:prstGeom prst="rect">
            <a:avLst/>
          </a:prstGeom>
        </p:spPr>
        <p:txBody>
          <a:bodyPr anchor="t" rtlCol="false" tIns="0" lIns="0" bIns="0" rIns="0">
            <a:spAutoFit/>
          </a:bodyPr>
          <a:lstStyle/>
          <a:p>
            <a:pPr algn="just">
              <a:lnSpc>
                <a:spcPts val="3519"/>
              </a:lnSpc>
            </a:pPr>
            <a:r>
              <a:rPr lang="en-US" sz="2199" spc="219">
                <a:solidFill>
                  <a:srgbClr val="000000"/>
                </a:solidFill>
                <a:latin typeface="Lato"/>
                <a:ea typeface="Lato"/>
                <a:cs typeface="Lato"/>
                <a:sym typeface="Lato"/>
              </a:rPr>
              <a:t>Role-based access, verified users, and secure handling of medical data ensure privacy, reliability, and trust.</a:t>
            </a:r>
          </a:p>
          <a:p>
            <a:pPr algn="just" marL="0" indent="0" lvl="0">
              <a:lnSpc>
                <a:spcPts val="3519"/>
              </a:lnSpc>
            </a:pPr>
          </a:p>
        </p:txBody>
      </p:sp>
      <p:sp>
        <p:nvSpPr>
          <p:cNvPr name="TextBox 11" id="11"/>
          <p:cNvSpPr txBox="true"/>
          <p:nvPr/>
        </p:nvSpPr>
        <p:spPr>
          <a:xfrm rot="0">
            <a:off x="12133113"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03</a:t>
            </a:r>
          </a:p>
        </p:txBody>
      </p:sp>
      <p:sp>
        <p:nvSpPr>
          <p:cNvPr name="AutoShape 12" id="12"/>
          <p:cNvSpPr/>
          <p:nvPr/>
        </p:nvSpPr>
        <p:spPr>
          <a:xfrm flipH="true">
            <a:off x="786933" y="0"/>
            <a:ext cx="0" cy="3334176"/>
          </a:xfrm>
          <a:prstGeom prst="line">
            <a:avLst/>
          </a:prstGeom>
          <a:ln cap="flat" w="57150">
            <a:solidFill>
              <a:srgbClr val="4E6E81"/>
            </a:solidFill>
            <a:prstDash val="sysDash"/>
            <a:headEnd type="none" len="sm" w="sm"/>
            <a:tailEnd type="none" len="sm" w="sm"/>
          </a:ln>
        </p:spPr>
      </p:sp>
      <p:sp>
        <p:nvSpPr>
          <p:cNvPr name="TextBox 13" id="13"/>
          <p:cNvSpPr txBox="true"/>
          <p:nvPr/>
        </p:nvSpPr>
        <p:spPr>
          <a:xfrm rot="0">
            <a:off x="966821" y="1416540"/>
            <a:ext cx="16955761" cy="358076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CarePoint is a smart, web-base</a:t>
            </a:r>
            <a:r>
              <a:rPr lang="en-US" sz="3399">
                <a:solidFill>
                  <a:srgbClr val="000000"/>
                </a:solidFill>
                <a:latin typeface="Canva Sans"/>
                <a:ea typeface="Canva Sans"/>
                <a:cs typeface="Canva Sans"/>
                <a:sym typeface="Canva Sans"/>
              </a:rPr>
              <a:t>d healthcare management system designed to simplify and digitize patient care operations. It provides a centralized and secure platform that connects patients, doctors, and healthcare staff, enabling efficient management of medical records, appointments, and consultations for a seamless healthcare experience.</a:t>
            </a:r>
          </a:p>
          <a:p>
            <a:pPr algn="just">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67178" y="124014"/>
            <a:ext cx="10030999" cy="1581768"/>
          </a:xfrm>
          <a:prstGeom prst="rect">
            <a:avLst/>
          </a:prstGeom>
        </p:spPr>
        <p:txBody>
          <a:bodyPr anchor="t" rtlCol="false" tIns="0" lIns="0" bIns="0" rIns="0">
            <a:spAutoFit/>
          </a:bodyPr>
          <a:lstStyle/>
          <a:p>
            <a:pPr algn="ctr">
              <a:lnSpc>
                <a:spcPts val="6265"/>
              </a:lnSpc>
            </a:pPr>
            <a:r>
              <a:rPr lang="en-US" b="true" sz="4475" spc="223">
                <a:solidFill>
                  <a:srgbClr val="000000"/>
                </a:solidFill>
                <a:latin typeface="Helios Extended Bold"/>
                <a:ea typeface="Helios Extended Bold"/>
                <a:cs typeface="Helios Extended Bold"/>
                <a:sym typeface="Helios Extended Bold"/>
              </a:rPr>
              <a:t>WHY CAREPOINT ?</a:t>
            </a:r>
          </a:p>
          <a:p>
            <a:pPr algn="ctr" marL="0" indent="0" lvl="0">
              <a:lnSpc>
                <a:spcPts val="6265"/>
              </a:lnSpc>
            </a:pPr>
          </a:p>
        </p:txBody>
      </p:sp>
      <p:sp>
        <p:nvSpPr>
          <p:cNvPr name="TextBox 3" id="3"/>
          <p:cNvSpPr txBox="true"/>
          <p:nvPr/>
        </p:nvSpPr>
        <p:spPr>
          <a:xfrm rot="0">
            <a:off x="1379470"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6756291"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02</a:t>
            </a:r>
          </a:p>
        </p:txBody>
      </p:sp>
      <p:sp>
        <p:nvSpPr>
          <p:cNvPr name="TextBox 5" id="5"/>
          <p:cNvSpPr txBox="true"/>
          <p:nvPr/>
        </p:nvSpPr>
        <p:spPr>
          <a:xfrm rot="0">
            <a:off x="420246" y="6251281"/>
            <a:ext cx="5734641" cy="1123240"/>
          </a:xfrm>
          <a:prstGeom prst="rect">
            <a:avLst/>
          </a:prstGeom>
        </p:spPr>
        <p:txBody>
          <a:bodyPr anchor="t" rtlCol="false" tIns="0" lIns="0" bIns="0" rIns="0">
            <a:spAutoFit/>
          </a:bodyPr>
          <a:lstStyle/>
          <a:p>
            <a:pPr algn="ctr">
              <a:lnSpc>
                <a:spcPts val="3087"/>
              </a:lnSpc>
            </a:pPr>
            <a:r>
              <a:rPr lang="en-US" b="true" sz="2205" spc="220">
                <a:solidFill>
                  <a:srgbClr val="4E6E81"/>
                </a:solidFill>
                <a:latin typeface="Heebo Bold"/>
                <a:ea typeface="Heebo Bold"/>
                <a:cs typeface="Heebo Bold"/>
                <a:sym typeface="Heebo Bold"/>
              </a:rPr>
              <a:t>CENTRALIZED HEALTHCARE  PLATFORM</a:t>
            </a:r>
          </a:p>
          <a:p>
            <a:pPr algn="ctr" marL="0" indent="0" lvl="0">
              <a:lnSpc>
                <a:spcPts val="3087"/>
              </a:lnSpc>
            </a:pPr>
          </a:p>
        </p:txBody>
      </p:sp>
      <p:sp>
        <p:nvSpPr>
          <p:cNvPr name="TextBox 6" id="6"/>
          <p:cNvSpPr txBox="true"/>
          <p:nvPr/>
        </p:nvSpPr>
        <p:spPr>
          <a:xfrm rot="0">
            <a:off x="6756291" y="6232231"/>
            <a:ext cx="5376822" cy="1189355"/>
          </a:xfrm>
          <a:prstGeom prst="rect">
            <a:avLst/>
          </a:prstGeom>
        </p:spPr>
        <p:txBody>
          <a:bodyPr anchor="t" rtlCol="false" tIns="0" lIns="0" bIns="0" rIns="0">
            <a:spAutoFit/>
          </a:bodyPr>
          <a:lstStyle/>
          <a:p>
            <a:pPr algn="ctr">
              <a:lnSpc>
                <a:spcPts val="3219"/>
              </a:lnSpc>
            </a:pPr>
            <a:r>
              <a:rPr lang="en-US" b="true" sz="2299" spc="229">
                <a:solidFill>
                  <a:srgbClr val="4E6E81"/>
                </a:solidFill>
                <a:latin typeface="Heebo Bold"/>
                <a:ea typeface="Heebo Bold"/>
                <a:cs typeface="Heebo Bold"/>
                <a:sym typeface="Heebo Bold"/>
              </a:rPr>
              <a:t>EFFICIENT MEDICAL  MANAGEMENT</a:t>
            </a:r>
          </a:p>
          <a:p>
            <a:pPr algn="ctr" marL="0" indent="0" lvl="0">
              <a:lnSpc>
                <a:spcPts val="3219"/>
              </a:lnSpc>
            </a:pPr>
          </a:p>
        </p:txBody>
      </p:sp>
      <p:sp>
        <p:nvSpPr>
          <p:cNvPr name="TextBox 7" id="7"/>
          <p:cNvSpPr txBox="true"/>
          <p:nvPr/>
        </p:nvSpPr>
        <p:spPr>
          <a:xfrm rot="0">
            <a:off x="12133113" y="6232231"/>
            <a:ext cx="4775418" cy="789305"/>
          </a:xfrm>
          <a:prstGeom prst="rect">
            <a:avLst/>
          </a:prstGeom>
        </p:spPr>
        <p:txBody>
          <a:bodyPr anchor="t" rtlCol="false" tIns="0" lIns="0" bIns="0" rIns="0">
            <a:spAutoFit/>
          </a:bodyPr>
          <a:lstStyle/>
          <a:p>
            <a:pPr algn="ctr">
              <a:lnSpc>
                <a:spcPts val="3219"/>
              </a:lnSpc>
            </a:pPr>
            <a:r>
              <a:rPr lang="en-US" b="true" sz="2299" spc="229">
                <a:solidFill>
                  <a:srgbClr val="4E6E81"/>
                </a:solidFill>
                <a:latin typeface="Heebo Bold"/>
                <a:ea typeface="Heebo Bold"/>
                <a:cs typeface="Heebo Bold"/>
                <a:sym typeface="Heebo Bold"/>
              </a:rPr>
              <a:t>SECURE &amp; RELIABLE</a:t>
            </a:r>
          </a:p>
          <a:p>
            <a:pPr algn="ctr" marL="0" indent="0" lvl="0">
              <a:lnSpc>
                <a:spcPts val="3219"/>
              </a:lnSpc>
            </a:pPr>
          </a:p>
        </p:txBody>
      </p:sp>
      <p:sp>
        <p:nvSpPr>
          <p:cNvPr name="TextBox 8" id="8"/>
          <p:cNvSpPr txBox="true"/>
          <p:nvPr/>
        </p:nvSpPr>
        <p:spPr>
          <a:xfrm rot="0">
            <a:off x="899858" y="6926286"/>
            <a:ext cx="4775418" cy="2612390"/>
          </a:xfrm>
          <a:prstGeom prst="rect">
            <a:avLst/>
          </a:prstGeom>
        </p:spPr>
        <p:txBody>
          <a:bodyPr anchor="t" rtlCol="false" tIns="0" lIns="0" bIns="0" rIns="0">
            <a:spAutoFit/>
          </a:bodyPr>
          <a:lstStyle/>
          <a:p>
            <a:pPr algn="ctr" marL="0" indent="0" lvl="0">
              <a:lnSpc>
                <a:spcPts val="3519"/>
              </a:lnSpc>
            </a:pPr>
            <a:r>
              <a:rPr lang="en-US" sz="2199" spc="219">
                <a:solidFill>
                  <a:srgbClr val="000000"/>
                </a:solidFill>
                <a:latin typeface="Lato"/>
                <a:ea typeface="Lato"/>
                <a:cs typeface="Lato"/>
                <a:sym typeface="Lato"/>
              </a:rPr>
              <a:t>All patient records, appointments, and medical histories are managed in one centralized system for easy access and tracking.</a:t>
            </a:r>
          </a:p>
          <a:p>
            <a:pPr algn="ctr" marL="0" indent="0" lvl="0">
              <a:lnSpc>
                <a:spcPts val="3519"/>
              </a:lnSpc>
            </a:pPr>
          </a:p>
        </p:txBody>
      </p:sp>
      <p:sp>
        <p:nvSpPr>
          <p:cNvPr name="TextBox 9" id="9"/>
          <p:cNvSpPr txBox="true"/>
          <p:nvPr/>
        </p:nvSpPr>
        <p:spPr>
          <a:xfrm rot="0">
            <a:off x="7092468" y="6926286"/>
            <a:ext cx="4439241" cy="2612390"/>
          </a:xfrm>
          <a:prstGeom prst="rect">
            <a:avLst/>
          </a:prstGeom>
        </p:spPr>
        <p:txBody>
          <a:bodyPr anchor="t" rtlCol="false" tIns="0" lIns="0" bIns="0" rIns="0">
            <a:spAutoFit/>
          </a:bodyPr>
          <a:lstStyle/>
          <a:p>
            <a:pPr algn="ctr" marL="0" indent="0" lvl="0">
              <a:lnSpc>
                <a:spcPts val="3519"/>
              </a:lnSpc>
            </a:pPr>
            <a:r>
              <a:rPr lang="en-US" sz="2199" spc="219">
                <a:solidFill>
                  <a:srgbClr val="000000"/>
                </a:solidFill>
                <a:latin typeface="Lato"/>
                <a:ea typeface="Lato"/>
                <a:cs typeface="Lato"/>
                <a:sym typeface="Lato"/>
              </a:rPr>
              <a:t>Doctors and healthcare staff can manage consultations, prescriptions, and medical records digitally with improved efficiency.</a:t>
            </a:r>
          </a:p>
          <a:p>
            <a:pPr algn="ctr" marL="0" indent="0" lvl="0">
              <a:lnSpc>
                <a:spcPts val="3519"/>
              </a:lnSpc>
            </a:pPr>
          </a:p>
        </p:txBody>
      </p:sp>
      <p:sp>
        <p:nvSpPr>
          <p:cNvPr name="TextBox 10" id="10"/>
          <p:cNvSpPr txBox="true"/>
          <p:nvPr/>
        </p:nvSpPr>
        <p:spPr>
          <a:xfrm rot="0">
            <a:off x="12352188" y="6926286"/>
            <a:ext cx="4556343" cy="2612390"/>
          </a:xfrm>
          <a:prstGeom prst="rect">
            <a:avLst/>
          </a:prstGeom>
        </p:spPr>
        <p:txBody>
          <a:bodyPr anchor="t" rtlCol="false" tIns="0" lIns="0" bIns="0" rIns="0">
            <a:spAutoFit/>
          </a:bodyPr>
          <a:lstStyle/>
          <a:p>
            <a:pPr algn="ctr">
              <a:lnSpc>
                <a:spcPts val="3519"/>
              </a:lnSpc>
            </a:pPr>
            <a:r>
              <a:rPr lang="en-US" sz="2199" spc="219">
                <a:solidFill>
                  <a:srgbClr val="000000"/>
                </a:solidFill>
                <a:latin typeface="Lato"/>
                <a:ea typeface="Lato"/>
                <a:cs typeface="Lato"/>
                <a:sym typeface="Lato"/>
              </a:rPr>
              <a:t>Role-based access, authenticated users, and secure data handling ensure privacy and reliability of sensitive medical information.</a:t>
            </a:r>
          </a:p>
          <a:p>
            <a:pPr algn="ctr" marL="0" indent="0" lvl="0">
              <a:lnSpc>
                <a:spcPts val="3519"/>
              </a:lnSpc>
            </a:pPr>
          </a:p>
        </p:txBody>
      </p:sp>
      <p:sp>
        <p:nvSpPr>
          <p:cNvPr name="TextBox 11" id="11"/>
          <p:cNvSpPr txBox="true"/>
          <p:nvPr/>
        </p:nvSpPr>
        <p:spPr>
          <a:xfrm rot="0">
            <a:off x="12133113" y="4797280"/>
            <a:ext cx="4775418" cy="1423669"/>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03</a:t>
            </a:r>
          </a:p>
        </p:txBody>
      </p:sp>
      <p:sp>
        <p:nvSpPr>
          <p:cNvPr name="AutoShape 12" id="12"/>
          <p:cNvSpPr/>
          <p:nvPr/>
        </p:nvSpPr>
        <p:spPr>
          <a:xfrm flipH="true">
            <a:off x="786933" y="0"/>
            <a:ext cx="0" cy="3334176"/>
          </a:xfrm>
          <a:prstGeom prst="line">
            <a:avLst/>
          </a:prstGeom>
          <a:ln cap="flat" w="57150">
            <a:solidFill>
              <a:srgbClr val="4E6E81"/>
            </a:solidFill>
            <a:prstDash val="sysDash"/>
            <a:headEnd type="none" len="sm" w="sm"/>
            <a:tailEnd type="none" len="sm" w="sm"/>
          </a:ln>
        </p:spPr>
      </p:sp>
      <p:sp>
        <p:nvSpPr>
          <p:cNvPr name="TextBox 13" id="13"/>
          <p:cNvSpPr txBox="true"/>
          <p:nvPr/>
        </p:nvSpPr>
        <p:spPr>
          <a:xfrm rot="0">
            <a:off x="966821" y="1210419"/>
            <a:ext cx="16955761" cy="4180840"/>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CarePoint solves the key challenges of tra</a:t>
            </a:r>
            <a:r>
              <a:rPr lang="en-US" sz="3399">
                <a:solidFill>
                  <a:srgbClr val="000000"/>
                </a:solidFill>
                <a:latin typeface="Canva Sans"/>
                <a:ea typeface="Canva Sans"/>
                <a:cs typeface="Canva Sans"/>
                <a:sym typeface="Canva Sans"/>
              </a:rPr>
              <a:t>ditional healthcare management by providing a fast, secure, and fully digital platform. It simplifies patient record management, appointment scheduling, and medical consultations for healthcare providers, enables efficient workflow management for doctors and staff, and ensures better control, data accuracy, and monitoring through a centralized admin-managed system.</a:t>
            </a:r>
          </a:p>
          <a:p>
            <a:pPr algn="just">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67178" y="124014"/>
            <a:ext cx="10030999" cy="1581768"/>
          </a:xfrm>
          <a:prstGeom prst="rect">
            <a:avLst/>
          </a:prstGeom>
        </p:spPr>
        <p:txBody>
          <a:bodyPr anchor="t" rtlCol="false" tIns="0" lIns="0" bIns="0" rIns="0">
            <a:spAutoFit/>
          </a:bodyPr>
          <a:lstStyle/>
          <a:p>
            <a:pPr algn="ctr">
              <a:lnSpc>
                <a:spcPts val="6265"/>
              </a:lnSpc>
            </a:pPr>
            <a:r>
              <a:rPr lang="en-US" b="true" sz="4475" spc="223">
                <a:solidFill>
                  <a:srgbClr val="000000"/>
                </a:solidFill>
                <a:latin typeface="Helios Extended Bold"/>
                <a:ea typeface="Helios Extended Bold"/>
                <a:cs typeface="Helios Extended Bold"/>
                <a:sym typeface="Helios Extended Bold"/>
              </a:rPr>
              <a:t>SYSTEM USERS</a:t>
            </a:r>
          </a:p>
          <a:p>
            <a:pPr algn="ctr" marL="0" indent="0" lvl="0">
              <a:lnSpc>
                <a:spcPts val="6265"/>
              </a:lnSpc>
            </a:pPr>
          </a:p>
        </p:txBody>
      </p:sp>
      <p:sp>
        <p:nvSpPr>
          <p:cNvPr name="TextBox 3" id="3"/>
          <p:cNvSpPr txBox="true"/>
          <p:nvPr/>
        </p:nvSpPr>
        <p:spPr>
          <a:xfrm rot="0">
            <a:off x="639881" y="4805049"/>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6756291"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02</a:t>
            </a:r>
          </a:p>
        </p:txBody>
      </p:sp>
      <p:sp>
        <p:nvSpPr>
          <p:cNvPr name="TextBox 5" id="5"/>
          <p:cNvSpPr txBox="true"/>
          <p:nvPr/>
        </p:nvSpPr>
        <p:spPr>
          <a:xfrm rot="0">
            <a:off x="420246" y="6251281"/>
            <a:ext cx="5734641" cy="356122"/>
          </a:xfrm>
          <a:prstGeom prst="rect">
            <a:avLst/>
          </a:prstGeom>
        </p:spPr>
        <p:txBody>
          <a:bodyPr anchor="t" rtlCol="false" tIns="0" lIns="0" bIns="0" rIns="0">
            <a:spAutoFit/>
          </a:bodyPr>
          <a:lstStyle/>
          <a:p>
            <a:pPr algn="ctr" marL="0" indent="0" lvl="0">
              <a:lnSpc>
                <a:spcPts val="3087"/>
              </a:lnSpc>
            </a:pPr>
            <a:r>
              <a:rPr lang="en-US" b="true" sz="2205" spc="220">
                <a:solidFill>
                  <a:srgbClr val="4E6E81"/>
                </a:solidFill>
                <a:latin typeface="Heebo Bold"/>
                <a:ea typeface="Heebo Bold"/>
                <a:cs typeface="Heebo Bold"/>
                <a:sym typeface="Heebo Bold"/>
              </a:rPr>
              <a:t>HEALTHCARE STAFF / ADMIN</a:t>
            </a:r>
          </a:p>
        </p:txBody>
      </p:sp>
      <p:sp>
        <p:nvSpPr>
          <p:cNvPr name="TextBox 6" id="6"/>
          <p:cNvSpPr txBox="true"/>
          <p:nvPr/>
        </p:nvSpPr>
        <p:spPr>
          <a:xfrm rot="0">
            <a:off x="6455589" y="6232231"/>
            <a:ext cx="5376822" cy="389255"/>
          </a:xfrm>
          <a:prstGeom prst="rect">
            <a:avLst/>
          </a:prstGeom>
        </p:spPr>
        <p:txBody>
          <a:bodyPr anchor="t" rtlCol="false" tIns="0" lIns="0" bIns="0" rIns="0">
            <a:spAutoFit/>
          </a:bodyPr>
          <a:lstStyle/>
          <a:p>
            <a:pPr algn="ctr">
              <a:lnSpc>
                <a:spcPts val="3219"/>
              </a:lnSpc>
            </a:pPr>
            <a:r>
              <a:rPr lang="en-US" b="true" sz="2299" spc="229">
                <a:solidFill>
                  <a:srgbClr val="4E6E81"/>
                </a:solidFill>
                <a:latin typeface="Heebo Bold"/>
                <a:ea typeface="Heebo Bold"/>
                <a:cs typeface="Heebo Bold"/>
                <a:sym typeface="Heebo Bold"/>
              </a:rPr>
              <a:t>PATIENT</a:t>
            </a:r>
          </a:p>
        </p:txBody>
      </p:sp>
      <p:sp>
        <p:nvSpPr>
          <p:cNvPr name="TextBox 7" id="7"/>
          <p:cNvSpPr txBox="true"/>
          <p:nvPr/>
        </p:nvSpPr>
        <p:spPr>
          <a:xfrm rot="0">
            <a:off x="12133113" y="6232231"/>
            <a:ext cx="4775418" cy="389255"/>
          </a:xfrm>
          <a:prstGeom prst="rect">
            <a:avLst/>
          </a:prstGeom>
        </p:spPr>
        <p:txBody>
          <a:bodyPr anchor="t" rtlCol="false" tIns="0" lIns="0" bIns="0" rIns="0">
            <a:spAutoFit/>
          </a:bodyPr>
          <a:lstStyle/>
          <a:p>
            <a:pPr algn="ctr" marL="0" indent="0" lvl="0">
              <a:lnSpc>
                <a:spcPts val="3219"/>
              </a:lnSpc>
            </a:pPr>
            <a:r>
              <a:rPr lang="en-US" b="true" sz="2299" spc="229">
                <a:solidFill>
                  <a:srgbClr val="4E6E81"/>
                </a:solidFill>
                <a:latin typeface="Heebo Bold"/>
                <a:ea typeface="Heebo Bold"/>
                <a:cs typeface="Heebo Bold"/>
                <a:sym typeface="Heebo Bold"/>
              </a:rPr>
              <a:t>DOCTOR</a:t>
            </a:r>
          </a:p>
        </p:txBody>
      </p:sp>
      <p:sp>
        <p:nvSpPr>
          <p:cNvPr name="TextBox 8" id="8"/>
          <p:cNvSpPr txBox="true"/>
          <p:nvPr/>
        </p:nvSpPr>
        <p:spPr>
          <a:xfrm rot="0">
            <a:off x="899858" y="6926286"/>
            <a:ext cx="4775418" cy="2174240"/>
          </a:xfrm>
          <a:prstGeom prst="rect">
            <a:avLst/>
          </a:prstGeom>
        </p:spPr>
        <p:txBody>
          <a:bodyPr anchor="t" rtlCol="false" tIns="0" lIns="0" bIns="0" rIns="0">
            <a:spAutoFit/>
          </a:bodyPr>
          <a:lstStyle/>
          <a:p>
            <a:pPr algn="just" marL="0" indent="0" lvl="0">
              <a:lnSpc>
                <a:spcPts val="3519"/>
              </a:lnSpc>
            </a:pPr>
            <a:r>
              <a:rPr lang="en-US" sz="2199" spc="219">
                <a:solidFill>
                  <a:srgbClr val="000000"/>
                </a:solidFill>
                <a:latin typeface="Lato"/>
                <a:ea typeface="Lato"/>
                <a:cs typeface="Lato"/>
                <a:sym typeface="Lato"/>
              </a:rPr>
              <a:t>Oversee system operations, manage users, monitor appointments, and ensure smooth workflow across the platform.</a:t>
            </a:r>
          </a:p>
        </p:txBody>
      </p:sp>
      <p:sp>
        <p:nvSpPr>
          <p:cNvPr name="TextBox 9" id="9"/>
          <p:cNvSpPr txBox="true"/>
          <p:nvPr/>
        </p:nvSpPr>
        <p:spPr>
          <a:xfrm rot="0">
            <a:off x="7092468" y="6926286"/>
            <a:ext cx="4439241" cy="1736090"/>
          </a:xfrm>
          <a:prstGeom prst="rect">
            <a:avLst/>
          </a:prstGeom>
        </p:spPr>
        <p:txBody>
          <a:bodyPr anchor="t" rtlCol="false" tIns="0" lIns="0" bIns="0" rIns="0">
            <a:spAutoFit/>
          </a:bodyPr>
          <a:lstStyle/>
          <a:p>
            <a:pPr algn="just" marL="0" indent="0" lvl="0">
              <a:lnSpc>
                <a:spcPts val="3519"/>
              </a:lnSpc>
            </a:pPr>
            <a:r>
              <a:rPr lang="en-US" sz="2199" spc="219">
                <a:solidFill>
                  <a:srgbClr val="000000"/>
                </a:solidFill>
                <a:latin typeface="Lato"/>
                <a:ea typeface="Lato"/>
                <a:cs typeface="Lato"/>
                <a:sym typeface="Lato"/>
              </a:rPr>
              <a:t>Can register, log in, book appointments, and access their medical records digitally.</a:t>
            </a:r>
          </a:p>
        </p:txBody>
      </p:sp>
      <p:sp>
        <p:nvSpPr>
          <p:cNvPr name="TextBox 10" id="10"/>
          <p:cNvSpPr txBox="true"/>
          <p:nvPr/>
        </p:nvSpPr>
        <p:spPr>
          <a:xfrm rot="0">
            <a:off x="12352188" y="6926286"/>
            <a:ext cx="4556343" cy="1736090"/>
          </a:xfrm>
          <a:prstGeom prst="rect">
            <a:avLst/>
          </a:prstGeom>
        </p:spPr>
        <p:txBody>
          <a:bodyPr anchor="t" rtlCol="false" tIns="0" lIns="0" bIns="0" rIns="0">
            <a:spAutoFit/>
          </a:bodyPr>
          <a:lstStyle/>
          <a:p>
            <a:pPr algn="just">
              <a:lnSpc>
                <a:spcPts val="3519"/>
              </a:lnSpc>
            </a:pPr>
            <a:r>
              <a:rPr lang="en-US" sz="2199" spc="219">
                <a:solidFill>
                  <a:srgbClr val="000000"/>
                </a:solidFill>
                <a:latin typeface="Lato"/>
                <a:ea typeface="Lato"/>
                <a:cs typeface="Lato"/>
                <a:sym typeface="Lato"/>
              </a:rPr>
              <a:t>Manage appointments, view patient history, add diagnoses, and update medical records.</a:t>
            </a:r>
          </a:p>
        </p:txBody>
      </p:sp>
      <p:sp>
        <p:nvSpPr>
          <p:cNvPr name="TextBox 11" id="11"/>
          <p:cNvSpPr txBox="true"/>
          <p:nvPr/>
        </p:nvSpPr>
        <p:spPr>
          <a:xfrm rot="0">
            <a:off x="12133113" y="4797280"/>
            <a:ext cx="4775418" cy="1423669"/>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03</a:t>
            </a:r>
          </a:p>
        </p:txBody>
      </p:sp>
      <p:sp>
        <p:nvSpPr>
          <p:cNvPr name="AutoShape 12" id="12"/>
          <p:cNvSpPr/>
          <p:nvPr/>
        </p:nvSpPr>
        <p:spPr>
          <a:xfrm flipH="true">
            <a:off x="786933" y="0"/>
            <a:ext cx="0" cy="3334176"/>
          </a:xfrm>
          <a:prstGeom prst="line">
            <a:avLst/>
          </a:prstGeom>
          <a:ln cap="flat" w="57150">
            <a:solidFill>
              <a:srgbClr val="4E6E81"/>
            </a:solidFill>
            <a:prstDash val="sysDash"/>
            <a:headEnd type="none" len="sm" w="sm"/>
            <a:tailEnd type="none" len="sm" w="sm"/>
          </a:ln>
        </p:spPr>
      </p:sp>
      <p:sp>
        <p:nvSpPr>
          <p:cNvPr name="TextBox 13" id="13"/>
          <p:cNvSpPr txBox="true"/>
          <p:nvPr/>
        </p:nvSpPr>
        <p:spPr>
          <a:xfrm rot="0">
            <a:off x="966821" y="1210419"/>
            <a:ext cx="16955761" cy="358076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The syst</a:t>
            </a:r>
            <a:r>
              <a:rPr lang="en-US" sz="3399">
                <a:solidFill>
                  <a:srgbClr val="000000"/>
                </a:solidFill>
                <a:latin typeface="Canva Sans"/>
                <a:ea typeface="Canva Sans"/>
                <a:cs typeface="Canva Sans"/>
                <a:sym typeface="Canva Sans"/>
              </a:rPr>
              <a:t>em supports multiple user roles to ensure efficient access control and smooth management of healthcare operations. </a:t>
            </a:r>
          </a:p>
          <a:p>
            <a:pPr algn="just">
              <a:lnSpc>
                <a:spcPts val="4759"/>
              </a:lnSpc>
            </a:pPr>
            <a:r>
              <a:rPr lang="en-US" sz="3399">
                <a:solidFill>
                  <a:srgbClr val="000000"/>
                </a:solidFill>
                <a:latin typeface="Canva Sans"/>
                <a:ea typeface="Canva Sans"/>
                <a:cs typeface="Canva Sans"/>
                <a:sym typeface="Canva Sans"/>
              </a:rPr>
              <a:t>The users involved in the project are:-</a:t>
            </a:r>
          </a:p>
          <a:p>
            <a:pPr algn="just" marL="734059" indent="-367030" lvl="1">
              <a:lnSpc>
                <a:spcPts val="4759"/>
              </a:lnSpc>
              <a:buAutoNum type="arabicPeriod" startAt="1"/>
            </a:pPr>
            <a:r>
              <a:rPr lang="en-US" sz="3399">
                <a:solidFill>
                  <a:srgbClr val="000000"/>
                </a:solidFill>
                <a:latin typeface="Canva Sans"/>
                <a:ea typeface="Canva Sans"/>
                <a:cs typeface="Canva Sans"/>
                <a:sym typeface="Canva Sans"/>
              </a:rPr>
              <a:t>Healthcare Staff / Admin</a:t>
            </a:r>
          </a:p>
          <a:p>
            <a:pPr algn="just" marL="734059" indent="-367030" lvl="1">
              <a:lnSpc>
                <a:spcPts val="4759"/>
              </a:lnSpc>
              <a:buAutoNum type="arabicPeriod" startAt="1"/>
            </a:pPr>
            <a:r>
              <a:rPr lang="en-US" sz="3399">
                <a:solidFill>
                  <a:srgbClr val="000000"/>
                </a:solidFill>
                <a:latin typeface="Canva Sans"/>
                <a:ea typeface="Canva Sans"/>
                <a:cs typeface="Canva Sans"/>
                <a:sym typeface="Canva Sans"/>
              </a:rPr>
              <a:t>Patient</a:t>
            </a:r>
          </a:p>
          <a:p>
            <a:pPr algn="just" marL="734059" indent="-367030" lvl="1">
              <a:lnSpc>
                <a:spcPts val="4759"/>
              </a:lnSpc>
              <a:buAutoNum type="arabicPeriod" startAt="1"/>
            </a:pPr>
            <a:r>
              <a:rPr lang="en-US" sz="3399">
                <a:solidFill>
                  <a:srgbClr val="000000"/>
                </a:solidFill>
                <a:latin typeface="Canva Sans"/>
                <a:ea typeface="Canva Sans"/>
                <a:cs typeface="Canva Sans"/>
                <a:sym typeface="Canva Sans"/>
              </a:rPr>
              <a:t>Doctor</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161085"/>
            <a:ext cx="14523548"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PROJECT ARCHITECTURE</a:t>
            </a:r>
          </a:p>
        </p:txBody>
      </p:sp>
      <p:sp>
        <p:nvSpPr>
          <p:cNvPr name="TextBox 3" id="3"/>
          <p:cNvSpPr txBox="true"/>
          <p:nvPr/>
        </p:nvSpPr>
        <p:spPr>
          <a:xfrm rot="0">
            <a:off x="365897" y="1139168"/>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9367625" y="1282678"/>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05</a:t>
            </a:r>
          </a:p>
        </p:txBody>
      </p:sp>
      <p:sp>
        <p:nvSpPr>
          <p:cNvPr name="TextBox 5" id="5"/>
          <p:cNvSpPr txBox="true"/>
          <p:nvPr/>
        </p:nvSpPr>
        <p:spPr>
          <a:xfrm rot="0">
            <a:off x="365897" y="3227720"/>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02</a:t>
            </a:r>
          </a:p>
        </p:txBody>
      </p:sp>
      <p:sp>
        <p:nvSpPr>
          <p:cNvPr name="TextBox 6" id="6"/>
          <p:cNvSpPr txBox="true"/>
          <p:nvPr/>
        </p:nvSpPr>
        <p:spPr>
          <a:xfrm rot="0">
            <a:off x="9367625" y="3096873"/>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06</a:t>
            </a:r>
          </a:p>
        </p:txBody>
      </p:sp>
      <p:sp>
        <p:nvSpPr>
          <p:cNvPr name="TextBox 7" id="7"/>
          <p:cNvSpPr txBox="true"/>
          <p:nvPr/>
        </p:nvSpPr>
        <p:spPr>
          <a:xfrm rot="0">
            <a:off x="365897" y="523478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03</a:t>
            </a:r>
          </a:p>
        </p:txBody>
      </p:sp>
      <p:sp>
        <p:nvSpPr>
          <p:cNvPr name="TextBox 8" id="8"/>
          <p:cNvSpPr txBox="true"/>
          <p:nvPr/>
        </p:nvSpPr>
        <p:spPr>
          <a:xfrm rot="0">
            <a:off x="9367625" y="523478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07</a:t>
            </a:r>
          </a:p>
        </p:txBody>
      </p:sp>
      <p:sp>
        <p:nvSpPr>
          <p:cNvPr name="TextBox 9" id="9"/>
          <p:cNvSpPr txBox="true"/>
          <p:nvPr/>
        </p:nvSpPr>
        <p:spPr>
          <a:xfrm rot="0">
            <a:off x="365897" y="1904343"/>
            <a:ext cx="8578281"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The </a:t>
            </a:r>
            <a:r>
              <a:rPr lang="en-US" b="true" sz="2299" spc="229">
                <a:solidFill>
                  <a:srgbClr val="000000"/>
                </a:solidFill>
                <a:latin typeface="Heebo Bold"/>
                <a:ea typeface="Heebo Bold"/>
                <a:cs typeface="Heebo Bold"/>
                <a:sym typeface="Heebo Bold"/>
              </a:rPr>
              <a:t>application is divided into three main layers: Front End, Middle Layer (Microservices), and Database Layer.</a:t>
            </a:r>
          </a:p>
          <a:p>
            <a:pPr algn="just" marL="0" indent="0" lvl="0">
              <a:lnSpc>
                <a:spcPts val="3219"/>
              </a:lnSpc>
            </a:pPr>
          </a:p>
        </p:txBody>
      </p:sp>
      <p:sp>
        <p:nvSpPr>
          <p:cNvPr name="TextBox 10" id="10"/>
          <p:cNvSpPr txBox="true"/>
          <p:nvPr/>
        </p:nvSpPr>
        <p:spPr>
          <a:xfrm rot="0">
            <a:off x="365897" y="3992895"/>
            <a:ext cx="8578281"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The F</a:t>
            </a:r>
            <a:r>
              <a:rPr lang="en-US" b="true" sz="2299" spc="229">
                <a:solidFill>
                  <a:srgbClr val="000000"/>
                </a:solidFill>
                <a:latin typeface="Heebo Bold"/>
                <a:ea typeface="Heebo Bold"/>
                <a:cs typeface="Heebo Bold"/>
                <a:sym typeface="Heebo Bold"/>
              </a:rPr>
              <a:t>ront End is developed using React.js, HTML, CSS, and Bootstrap, and runs on a web server at localhost:3000.</a:t>
            </a:r>
          </a:p>
          <a:p>
            <a:pPr algn="just" marL="0" indent="0" lvl="0">
              <a:lnSpc>
                <a:spcPts val="3219"/>
              </a:lnSpc>
            </a:pPr>
          </a:p>
        </p:txBody>
      </p:sp>
      <p:sp>
        <p:nvSpPr>
          <p:cNvPr name="TextBox 11" id="11"/>
          <p:cNvSpPr txBox="true"/>
          <p:nvPr/>
        </p:nvSpPr>
        <p:spPr>
          <a:xfrm rot="0">
            <a:off x="9242647" y="3992895"/>
            <a:ext cx="8548319"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Each service ha</a:t>
            </a:r>
            <a:r>
              <a:rPr lang="en-US" b="true" sz="2299" spc="229">
                <a:solidFill>
                  <a:srgbClr val="000000"/>
                </a:solidFill>
                <a:latin typeface="Heebo Bold"/>
                <a:ea typeface="Heebo Bold"/>
                <a:cs typeface="Heebo Bold"/>
                <a:sym typeface="Heebo Bold"/>
              </a:rPr>
              <a:t>ndles a specific business responsibility such as user management, appointment scheduling, or medical records.</a:t>
            </a:r>
          </a:p>
          <a:p>
            <a:pPr algn="just" marL="0" indent="0" lvl="0">
              <a:lnSpc>
                <a:spcPts val="3219"/>
              </a:lnSpc>
            </a:pPr>
          </a:p>
        </p:txBody>
      </p:sp>
      <p:sp>
        <p:nvSpPr>
          <p:cNvPr name="TextBox 12" id="12"/>
          <p:cNvSpPr txBox="true"/>
          <p:nvPr/>
        </p:nvSpPr>
        <p:spPr>
          <a:xfrm rot="0">
            <a:off x="365897" y="6035522"/>
            <a:ext cx="8578281"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The Middle L</a:t>
            </a:r>
            <a:r>
              <a:rPr lang="en-US" b="true" sz="2299" spc="229">
                <a:solidFill>
                  <a:srgbClr val="000000"/>
                </a:solidFill>
                <a:latin typeface="Heebo Bold"/>
                <a:ea typeface="Heebo Bold"/>
                <a:cs typeface="Heebo Bold"/>
                <a:sym typeface="Heebo Bold"/>
              </a:rPr>
              <a:t>ayer consists of independent microservices built using Spring Boot and ASP.NET Core.</a:t>
            </a:r>
          </a:p>
          <a:p>
            <a:pPr algn="just" marL="0" indent="0" lvl="0">
              <a:lnSpc>
                <a:spcPts val="3219"/>
              </a:lnSpc>
            </a:pPr>
          </a:p>
        </p:txBody>
      </p:sp>
      <p:sp>
        <p:nvSpPr>
          <p:cNvPr name="TextBox 13" id="13"/>
          <p:cNvSpPr txBox="true"/>
          <p:nvPr/>
        </p:nvSpPr>
        <p:spPr>
          <a:xfrm rot="0">
            <a:off x="9367625" y="6035522"/>
            <a:ext cx="8423341" cy="118935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Each service handles a specific b</a:t>
            </a:r>
            <a:r>
              <a:rPr lang="en-US" b="true" sz="2299" spc="229">
                <a:solidFill>
                  <a:srgbClr val="000000"/>
                </a:solidFill>
                <a:latin typeface="Heebo Bold"/>
                <a:ea typeface="Heebo Bold"/>
                <a:cs typeface="Heebo Bold"/>
                <a:sym typeface="Heebo Bold"/>
              </a:rPr>
              <a:t>usiness function and communicates using REST APIs with JSON format.</a:t>
            </a:r>
          </a:p>
        </p:txBody>
      </p:sp>
      <p:sp>
        <p:nvSpPr>
          <p:cNvPr name="TextBox 14" id="14"/>
          <p:cNvSpPr txBox="true"/>
          <p:nvPr/>
        </p:nvSpPr>
        <p:spPr>
          <a:xfrm rot="0">
            <a:off x="365897" y="732393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04</a:t>
            </a:r>
          </a:p>
        </p:txBody>
      </p:sp>
      <p:sp>
        <p:nvSpPr>
          <p:cNvPr name="TextBox 15" id="15"/>
          <p:cNvSpPr txBox="true"/>
          <p:nvPr/>
        </p:nvSpPr>
        <p:spPr>
          <a:xfrm rot="0">
            <a:off x="9367625" y="732393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08</a:t>
            </a:r>
          </a:p>
        </p:txBody>
      </p:sp>
      <p:sp>
        <p:nvSpPr>
          <p:cNvPr name="TextBox 16" id="16"/>
          <p:cNvSpPr txBox="true"/>
          <p:nvPr/>
        </p:nvSpPr>
        <p:spPr>
          <a:xfrm rot="0">
            <a:off x="365897" y="8089112"/>
            <a:ext cx="8578281"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An API Gat</a:t>
            </a:r>
            <a:r>
              <a:rPr lang="en-US" b="true" sz="2299" spc="229">
                <a:solidFill>
                  <a:srgbClr val="000000"/>
                </a:solidFill>
                <a:latin typeface="Heebo Bold"/>
                <a:ea typeface="Heebo Bold"/>
                <a:cs typeface="Heebo Bold"/>
                <a:sym typeface="Heebo Bold"/>
              </a:rPr>
              <a:t>eway acts as a single entry point for all client requests and routes them to the appropriate services.</a:t>
            </a:r>
          </a:p>
          <a:p>
            <a:pPr algn="just" marL="0" indent="0" lvl="0">
              <a:lnSpc>
                <a:spcPts val="3219"/>
              </a:lnSpc>
            </a:pPr>
          </a:p>
        </p:txBody>
      </p:sp>
      <p:sp>
        <p:nvSpPr>
          <p:cNvPr name="TextBox 17" id="17"/>
          <p:cNvSpPr txBox="true"/>
          <p:nvPr/>
        </p:nvSpPr>
        <p:spPr>
          <a:xfrm rot="0">
            <a:off x="9372599" y="8127212"/>
            <a:ext cx="8418367" cy="158940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The database layer follows a per-service approach to ensure loose coupling, using MySQL with JPA/Hibernate for Spring Boot services and Entity Framework for .NET services.</a:t>
            </a:r>
          </a:p>
        </p:txBody>
      </p:sp>
      <p:sp>
        <p:nvSpPr>
          <p:cNvPr name="AutoShape 18" id="18"/>
          <p:cNvSpPr/>
          <p:nvPr/>
        </p:nvSpPr>
        <p:spPr>
          <a:xfrm>
            <a:off x="9144000" y="5967540"/>
            <a:ext cx="28575" cy="4319460"/>
          </a:xfrm>
          <a:prstGeom prst="line">
            <a:avLst/>
          </a:prstGeom>
          <a:ln cap="flat" w="57150">
            <a:solidFill>
              <a:srgbClr val="4E6E81"/>
            </a:solidFill>
            <a:prstDash val="sysDash"/>
            <a:headEnd type="none" len="sm" w="sm"/>
            <a:tailEnd type="none" len="sm" w="sm"/>
          </a:ln>
        </p:spPr>
      </p:sp>
      <p:sp>
        <p:nvSpPr>
          <p:cNvPr name="AutoShape 19" id="19"/>
          <p:cNvSpPr/>
          <p:nvPr/>
        </p:nvSpPr>
        <p:spPr>
          <a:xfrm>
            <a:off x="9129712" y="1647890"/>
            <a:ext cx="28575" cy="4319460"/>
          </a:xfrm>
          <a:prstGeom prst="line">
            <a:avLst/>
          </a:prstGeom>
          <a:ln cap="flat" w="57150">
            <a:solidFill>
              <a:srgbClr val="4E6E81"/>
            </a:solidFill>
            <a:prstDash val="sysDash"/>
            <a:headEnd type="none" len="sm" w="sm"/>
            <a:tailEnd type="none" len="sm" w="sm"/>
          </a:ln>
        </p:spPr>
      </p:sp>
      <p:sp>
        <p:nvSpPr>
          <p:cNvPr name="TextBox 20" id="20"/>
          <p:cNvSpPr txBox="true"/>
          <p:nvPr/>
        </p:nvSpPr>
        <p:spPr>
          <a:xfrm rot="0">
            <a:off x="9242647" y="1933553"/>
            <a:ext cx="8548319" cy="1189355"/>
          </a:xfrm>
          <a:prstGeom prst="rect">
            <a:avLst/>
          </a:prstGeom>
        </p:spPr>
        <p:txBody>
          <a:bodyPr anchor="t" rtlCol="false" tIns="0" lIns="0" bIns="0" rIns="0">
            <a:spAutoFit/>
          </a:bodyPr>
          <a:lstStyle/>
          <a:p>
            <a:pPr algn="just">
              <a:lnSpc>
                <a:spcPts val="3219"/>
              </a:lnSpc>
              <a:spcBef>
                <a:spcPct val="0"/>
              </a:spcBef>
            </a:pPr>
            <a:r>
              <a:rPr lang="en-US" b="true" sz="2299" spc="229">
                <a:solidFill>
                  <a:srgbClr val="000000"/>
                </a:solidFill>
                <a:latin typeface="Heebo Bold"/>
                <a:ea typeface="Heebo Bold"/>
                <a:cs typeface="Heebo Bold"/>
                <a:sym typeface="Heebo Bold"/>
              </a:rPr>
              <a:t>A Service Discovery mechanism is used to dynamically register and locate services within the system.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2843" y="2128109"/>
            <a:ext cx="15104390" cy="7854956"/>
          </a:xfrm>
          <a:custGeom>
            <a:avLst/>
            <a:gdLst/>
            <a:ahLst/>
            <a:cxnLst/>
            <a:rect r="r" b="b" t="t" l="l"/>
            <a:pathLst>
              <a:path h="7854956" w="15104390">
                <a:moveTo>
                  <a:pt x="0" y="0"/>
                </a:moveTo>
                <a:lnTo>
                  <a:pt x="15104391" y="0"/>
                </a:lnTo>
                <a:lnTo>
                  <a:pt x="15104391" y="7854956"/>
                </a:lnTo>
                <a:lnTo>
                  <a:pt x="0" y="7854956"/>
                </a:lnTo>
                <a:lnTo>
                  <a:pt x="0" y="0"/>
                </a:lnTo>
                <a:close/>
              </a:path>
            </a:pathLst>
          </a:custGeom>
          <a:blipFill>
            <a:blip r:embed="rId2"/>
            <a:stretch>
              <a:fillRect l="0" t="0" r="0" b="0"/>
            </a:stretch>
          </a:blipFill>
        </p:spPr>
      </p:sp>
      <p:sp>
        <p:nvSpPr>
          <p:cNvPr name="TextBox 3" id="3"/>
          <p:cNvSpPr txBox="true"/>
          <p:nvPr/>
        </p:nvSpPr>
        <p:spPr>
          <a:xfrm rot="0">
            <a:off x="1712843" y="159703"/>
            <a:ext cx="14593372"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PROJECT ARCHITECTURE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161085"/>
            <a:ext cx="14523548"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FRONTEND WORKFLOW</a:t>
            </a:r>
          </a:p>
        </p:txBody>
      </p:sp>
      <p:sp>
        <p:nvSpPr>
          <p:cNvPr name="TextBox 3" id="3"/>
          <p:cNvSpPr txBox="true"/>
          <p:nvPr/>
        </p:nvSpPr>
        <p:spPr>
          <a:xfrm rot="0">
            <a:off x="365897" y="1139168"/>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9367625" y="1282678"/>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05</a:t>
            </a:r>
          </a:p>
        </p:txBody>
      </p:sp>
      <p:sp>
        <p:nvSpPr>
          <p:cNvPr name="TextBox 5" id="5"/>
          <p:cNvSpPr txBox="true"/>
          <p:nvPr/>
        </p:nvSpPr>
        <p:spPr>
          <a:xfrm rot="0">
            <a:off x="365897" y="3227720"/>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02</a:t>
            </a:r>
          </a:p>
        </p:txBody>
      </p:sp>
      <p:sp>
        <p:nvSpPr>
          <p:cNvPr name="TextBox 6" id="6"/>
          <p:cNvSpPr txBox="true"/>
          <p:nvPr/>
        </p:nvSpPr>
        <p:spPr>
          <a:xfrm rot="0">
            <a:off x="9367625" y="3096873"/>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06</a:t>
            </a:r>
          </a:p>
        </p:txBody>
      </p:sp>
      <p:sp>
        <p:nvSpPr>
          <p:cNvPr name="TextBox 7" id="7"/>
          <p:cNvSpPr txBox="true"/>
          <p:nvPr/>
        </p:nvSpPr>
        <p:spPr>
          <a:xfrm rot="0">
            <a:off x="365897" y="523478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03</a:t>
            </a:r>
          </a:p>
        </p:txBody>
      </p:sp>
      <p:sp>
        <p:nvSpPr>
          <p:cNvPr name="TextBox 8" id="8"/>
          <p:cNvSpPr txBox="true"/>
          <p:nvPr/>
        </p:nvSpPr>
        <p:spPr>
          <a:xfrm rot="0">
            <a:off x="9367625" y="523478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07</a:t>
            </a:r>
          </a:p>
        </p:txBody>
      </p:sp>
      <p:sp>
        <p:nvSpPr>
          <p:cNvPr name="TextBox 9" id="9"/>
          <p:cNvSpPr txBox="true"/>
          <p:nvPr/>
        </p:nvSpPr>
        <p:spPr>
          <a:xfrm rot="0">
            <a:off x="365897" y="1904343"/>
            <a:ext cx="8578281" cy="78930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Users inter</a:t>
            </a:r>
            <a:r>
              <a:rPr lang="en-US" b="true" sz="2299" spc="229">
                <a:solidFill>
                  <a:srgbClr val="000000"/>
                </a:solidFill>
                <a:latin typeface="Heebo Bold"/>
                <a:ea typeface="Heebo Bold"/>
                <a:cs typeface="Heebo Bold"/>
                <a:sym typeface="Heebo Bold"/>
              </a:rPr>
              <a:t>act with the system through a React-based user interface. </a:t>
            </a:r>
          </a:p>
        </p:txBody>
      </p:sp>
      <p:sp>
        <p:nvSpPr>
          <p:cNvPr name="TextBox 10" id="10"/>
          <p:cNvSpPr txBox="true"/>
          <p:nvPr/>
        </p:nvSpPr>
        <p:spPr>
          <a:xfrm rot="0">
            <a:off x="365897" y="3992895"/>
            <a:ext cx="8578281"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Each applicati</a:t>
            </a:r>
            <a:r>
              <a:rPr lang="en-US" b="true" sz="2299" spc="229">
                <a:solidFill>
                  <a:srgbClr val="000000"/>
                </a:solidFill>
                <a:latin typeface="Heebo Bold"/>
                <a:ea typeface="Heebo Bold"/>
                <a:cs typeface="Heebo Bold"/>
                <a:sym typeface="Heebo Bold"/>
              </a:rPr>
              <a:t>on screen is developed as a modular React component with appropriate UI controls and form validations.</a:t>
            </a:r>
          </a:p>
          <a:p>
            <a:pPr algn="just" marL="0" indent="0" lvl="0">
              <a:lnSpc>
                <a:spcPts val="3219"/>
              </a:lnSpc>
            </a:pPr>
          </a:p>
        </p:txBody>
      </p:sp>
      <p:sp>
        <p:nvSpPr>
          <p:cNvPr name="TextBox 11" id="11"/>
          <p:cNvSpPr txBox="true"/>
          <p:nvPr/>
        </p:nvSpPr>
        <p:spPr>
          <a:xfrm rot="0">
            <a:off x="9242647" y="3992895"/>
            <a:ext cx="8548319" cy="118935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The backe</a:t>
            </a:r>
            <a:r>
              <a:rPr lang="en-US" b="true" sz="2299" spc="229">
                <a:solidFill>
                  <a:srgbClr val="000000"/>
                </a:solidFill>
                <a:latin typeface="Heebo Bold"/>
                <a:ea typeface="Heebo Bold"/>
                <a:cs typeface="Heebo Bold"/>
                <a:sym typeface="Heebo Bold"/>
              </a:rPr>
              <a:t>nd processes the request and returns a response or status message.</a:t>
            </a:r>
          </a:p>
          <a:p>
            <a:pPr algn="just" marL="0" indent="0" lvl="0">
              <a:lnSpc>
                <a:spcPts val="3219"/>
              </a:lnSpc>
            </a:pPr>
          </a:p>
        </p:txBody>
      </p:sp>
      <p:sp>
        <p:nvSpPr>
          <p:cNvPr name="TextBox 12" id="12"/>
          <p:cNvSpPr txBox="true"/>
          <p:nvPr/>
        </p:nvSpPr>
        <p:spPr>
          <a:xfrm rot="0">
            <a:off x="365897" y="6035522"/>
            <a:ext cx="8578281" cy="15894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Client-side valid</a:t>
            </a:r>
            <a:r>
              <a:rPr lang="en-US" b="true" sz="2299" spc="229">
                <a:solidFill>
                  <a:srgbClr val="000000"/>
                </a:solidFill>
                <a:latin typeface="Heebo Bold"/>
                <a:ea typeface="Heebo Bold"/>
                <a:cs typeface="Heebo Bold"/>
                <a:sym typeface="Heebo Bold"/>
              </a:rPr>
              <a:t>ation is performed using JavaScript logic and regular expression patterns to ensure data correctness.</a:t>
            </a:r>
          </a:p>
          <a:p>
            <a:pPr algn="just" marL="0" indent="0" lvl="0">
              <a:lnSpc>
                <a:spcPts val="3219"/>
              </a:lnSpc>
            </a:pPr>
          </a:p>
        </p:txBody>
      </p:sp>
      <p:sp>
        <p:nvSpPr>
          <p:cNvPr name="TextBox 13" id="13"/>
          <p:cNvSpPr txBox="true"/>
          <p:nvPr/>
        </p:nvSpPr>
        <p:spPr>
          <a:xfrm rot="0">
            <a:off x="9367625" y="6035522"/>
            <a:ext cx="8423341" cy="118935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Based on the response, the frontend displays succes</a:t>
            </a:r>
            <a:r>
              <a:rPr lang="en-US" b="true" sz="2299" spc="229">
                <a:solidFill>
                  <a:srgbClr val="000000"/>
                </a:solidFill>
                <a:latin typeface="Heebo Bold"/>
                <a:ea typeface="Heebo Bold"/>
                <a:cs typeface="Heebo Bold"/>
                <a:sym typeface="Heebo Bold"/>
              </a:rPr>
              <a:t>s messages or error notifications.</a:t>
            </a:r>
          </a:p>
          <a:p>
            <a:pPr algn="just" marL="0" indent="0" lvl="0">
              <a:lnSpc>
                <a:spcPts val="3219"/>
              </a:lnSpc>
            </a:pPr>
          </a:p>
        </p:txBody>
      </p:sp>
      <p:sp>
        <p:nvSpPr>
          <p:cNvPr name="TextBox 14" id="14"/>
          <p:cNvSpPr txBox="true"/>
          <p:nvPr/>
        </p:nvSpPr>
        <p:spPr>
          <a:xfrm rot="0">
            <a:off x="365897" y="732393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04</a:t>
            </a:r>
          </a:p>
        </p:txBody>
      </p:sp>
      <p:sp>
        <p:nvSpPr>
          <p:cNvPr name="TextBox 15" id="15"/>
          <p:cNvSpPr txBox="true"/>
          <p:nvPr/>
        </p:nvSpPr>
        <p:spPr>
          <a:xfrm rot="0">
            <a:off x="9367625" y="732393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08</a:t>
            </a:r>
          </a:p>
        </p:txBody>
      </p:sp>
      <p:sp>
        <p:nvSpPr>
          <p:cNvPr name="TextBox 16" id="16"/>
          <p:cNvSpPr txBox="true"/>
          <p:nvPr/>
        </p:nvSpPr>
        <p:spPr>
          <a:xfrm rot="0">
            <a:off x="365897" y="8089112"/>
            <a:ext cx="8578281" cy="118935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Aft</a:t>
            </a:r>
            <a:r>
              <a:rPr lang="en-US" b="true" sz="2299" spc="229">
                <a:solidFill>
                  <a:srgbClr val="000000"/>
                </a:solidFill>
                <a:latin typeface="Heebo Bold"/>
                <a:ea typeface="Heebo Bold"/>
                <a:cs typeface="Heebo Bold"/>
                <a:sym typeface="Heebo Bold"/>
              </a:rPr>
              <a:t>er successful validation, the frontend communicates with the backend using Axios.</a:t>
            </a:r>
          </a:p>
          <a:p>
            <a:pPr algn="just" marL="0" indent="0" lvl="0">
              <a:lnSpc>
                <a:spcPts val="3219"/>
              </a:lnSpc>
            </a:pPr>
          </a:p>
        </p:txBody>
      </p:sp>
      <p:sp>
        <p:nvSpPr>
          <p:cNvPr name="TextBox 17" id="17"/>
          <p:cNvSpPr txBox="true"/>
          <p:nvPr/>
        </p:nvSpPr>
        <p:spPr>
          <a:xfrm rot="0">
            <a:off x="9372599" y="8127212"/>
            <a:ext cx="8418367" cy="158940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For</a:t>
            </a:r>
            <a:r>
              <a:rPr lang="en-US" b="true" sz="2299" spc="229">
                <a:solidFill>
                  <a:srgbClr val="000000"/>
                </a:solidFill>
                <a:latin typeface="Heebo Bold"/>
                <a:ea typeface="Heebo Bold"/>
                <a:cs typeface="Heebo Bold"/>
                <a:sym typeface="Heebo Bold"/>
              </a:rPr>
              <a:t> successful operations, the UI is updated dynamically or the user is redirected to the relevant page.</a:t>
            </a:r>
          </a:p>
          <a:p>
            <a:pPr algn="just" marL="0" indent="0" lvl="0">
              <a:lnSpc>
                <a:spcPts val="3219"/>
              </a:lnSpc>
            </a:pPr>
          </a:p>
        </p:txBody>
      </p:sp>
      <p:sp>
        <p:nvSpPr>
          <p:cNvPr name="AutoShape 18" id="18"/>
          <p:cNvSpPr/>
          <p:nvPr/>
        </p:nvSpPr>
        <p:spPr>
          <a:xfrm>
            <a:off x="9144000" y="5967540"/>
            <a:ext cx="28575" cy="4319460"/>
          </a:xfrm>
          <a:prstGeom prst="line">
            <a:avLst/>
          </a:prstGeom>
          <a:ln cap="flat" w="57150">
            <a:solidFill>
              <a:srgbClr val="4E6E81"/>
            </a:solidFill>
            <a:prstDash val="sysDash"/>
            <a:headEnd type="none" len="sm" w="sm"/>
            <a:tailEnd type="none" len="sm" w="sm"/>
          </a:ln>
        </p:spPr>
      </p:sp>
      <p:sp>
        <p:nvSpPr>
          <p:cNvPr name="AutoShape 19" id="19"/>
          <p:cNvSpPr/>
          <p:nvPr/>
        </p:nvSpPr>
        <p:spPr>
          <a:xfrm>
            <a:off x="9129712" y="1647890"/>
            <a:ext cx="28575" cy="4319460"/>
          </a:xfrm>
          <a:prstGeom prst="line">
            <a:avLst/>
          </a:prstGeom>
          <a:ln cap="flat" w="57150">
            <a:solidFill>
              <a:srgbClr val="4E6E81"/>
            </a:solidFill>
            <a:prstDash val="sysDash"/>
            <a:headEnd type="none" len="sm" w="sm"/>
            <a:tailEnd type="none" len="sm" w="sm"/>
          </a:ln>
        </p:spPr>
      </p:sp>
      <p:sp>
        <p:nvSpPr>
          <p:cNvPr name="TextBox 20" id="20"/>
          <p:cNvSpPr txBox="true"/>
          <p:nvPr/>
        </p:nvSpPr>
        <p:spPr>
          <a:xfrm rot="0">
            <a:off x="9242647" y="1933553"/>
            <a:ext cx="8548319" cy="1189355"/>
          </a:xfrm>
          <a:prstGeom prst="rect">
            <a:avLst/>
          </a:prstGeom>
        </p:spPr>
        <p:txBody>
          <a:bodyPr anchor="t" rtlCol="false" tIns="0" lIns="0" bIns="0" rIns="0">
            <a:spAutoFit/>
          </a:bodyPr>
          <a:lstStyle/>
          <a:p>
            <a:pPr algn="just">
              <a:lnSpc>
                <a:spcPts val="3219"/>
              </a:lnSpc>
              <a:spcBef>
                <a:spcPct val="0"/>
              </a:spcBef>
            </a:pPr>
            <a:r>
              <a:rPr lang="en-US" b="true" sz="2299" spc="229">
                <a:solidFill>
                  <a:srgbClr val="000000"/>
                </a:solidFill>
                <a:latin typeface="Heebo Bold"/>
                <a:ea typeface="Heebo Bold"/>
                <a:cs typeface="Heebo Bold"/>
                <a:sym typeface="Heebo Bold"/>
              </a:rPr>
              <a:t>R</a:t>
            </a:r>
            <a:r>
              <a:rPr lang="en-US" b="true" sz="2299" spc="229">
                <a:solidFill>
                  <a:srgbClr val="000000"/>
                </a:solidFill>
                <a:latin typeface="Heebo Bold"/>
                <a:ea typeface="Heebo Bold"/>
                <a:cs typeface="Heebo Bold"/>
                <a:sym typeface="Heebo Bold"/>
              </a:rPr>
              <a:t>equests are routed to respective RESTful API endpoints via the API Gateway.</a:t>
            </a:r>
          </a:p>
          <a:p>
            <a:pPr algn="just">
              <a:lnSpc>
                <a:spcPts val="321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737" y="227760"/>
            <a:ext cx="18551737" cy="698500"/>
          </a:xfrm>
          <a:prstGeom prst="rect">
            <a:avLst/>
          </a:prstGeom>
        </p:spPr>
        <p:txBody>
          <a:bodyPr anchor="t" rtlCol="false" tIns="0" lIns="0" bIns="0" rIns="0">
            <a:spAutoFit/>
          </a:bodyPr>
          <a:lstStyle/>
          <a:p>
            <a:pPr algn="ctr" marL="0" indent="0" lvl="0">
              <a:lnSpc>
                <a:spcPts val="5599"/>
              </a:lnSpc>
            </a:pPr>
            <a:r>
              <a:rPr lang="en-US" b="true" sz="3999" spc="199">
                <a:solidFill>
                  <a:srgbClr val="000000"/>
                </a:solidFill>
                <a:latin typeface="Helios Extended Bold"/>
                <a:ea typeface="Helios Extended Bold"/>
                <a:cs typeface="Helios Extended Bold"/>
                <a:sym typeface="Helios Extended Bold"/>
              </a:rPr>
              <a:t>MICROSERVICES ARCHITECTURE AND WORKFLOW</a:t>
            </a:r>
          </a:p>
        </p:txBody>
      </p:sp>
      <p:sp>
        <p:nvSpPr>
          <p:cNvPr name="TextBox 3" id="3"/>
          <p:cNvSpPr txBox="true"/>
          <p:nvPr/>
        </p:nvSpPr>
        <p:spPr>
          <a:xfrm rot="0">
            <a:off x="365897" y="1139168"/>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9367625" y="1282678"/>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05</a:t>
            </a:r>
          </a:p>
        </p:txBody>
      </p:sp>
      <p:sp>
        <p:nvSpPr>
          <p:cNvPr name="TextBox 5" id="5"/>
          <p:cNvSpPr txBox="true"/>
          <p:nvPr/>
        </p:nvSpPr>
        <p:spPr>
          <a:xfrm rot="0">
            <a:off x="365897" y="3227720"/>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02</a:t>
            </a:r>
          </a:p>
        </p:txBody>
      </p:sp>
      <p:sp>
        <p:nvSpPr>
          <p:cNvPr name="TextBox 6" id="6"/>
          <p:cNvSpPr txBox="true"/>
          <p:nvPr/>
        </p:nvSpPr>
        <p:spPr>
          <a:xfrm rot="0">
            <a:off x="9367625" y="3096873"/>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06</a:t>
            </a:r>
          </a:p>
        </p:txBody>
      </p:sp>
      <p:sp>
        <p:nvSpPr>
          <p:cNvPr name="TextBox 7" id="7"/>
          <p:cNvSpPr txBox="true"/>
          <p:nvPr/>
        </p:nvSpPr>
        <p:spPr>
          <a:xfrm rot="0">
            <a:off x="365897" y="523478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03</a:t>
            </a:r>
          </a:p>
        </p:txBody>
      </p:sp>
      <p:sp>
        <p:nvSpPr>
          <p:cNvPr name="TextBox 8" id="8"/>
          <p:cNvSpPr txBox="true"/>
          <p:nvPr/>
        </p:nvSpPr>
        <p:spPr>
          <a:xfrm rot="0">
            <a:off x="9367625" y="523478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07</a:t>
            </a:r>
          </a:p>
        </p:txBody>
      </p:sp>
      <p:sp>
        <p:nvSpPr>
          <p:cNvPr name="TextBox 9" id="9"/>
          <p:cNvSpPr txBox="true"/>
          <p:nvPr/>
        </p:nvSpPr>
        <p:spPr>
          <a:xfrm rot="0">
            <a:off x="365897" y="1904343"/>
            <a:ext cx="8578281" cy="118935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The Carepo</a:t>
            </a:r>
            <a:r>
              <a:rPr lang="en-US" b="true" sz="2299" spc="229">
                <a:solidFill>
                  <a:srgbClr val="000000"/>
                </a:solidFill>
                <a:latin typeface="Heebo Bold"/>
                <a:ea typeface="Heebo Bold"/>
                <a:cs typeface="Heebo Bold"/>
                <a:sym typeface="Heebo Bold"/>
              </a:rPr>
              <a:t>int system is designed using a </a:t>
            </a:r>
          </a:p>
          <a:p>
            <a:pPr algn="just">
              <a:lnSpc>
                <a:spcPts val="3219"/>
              </a:lnSpc>
            </a:pPr>
            <a:r>
              <a:rPr lang="en-US" b="true" sz="2299" spc="229">
                <a:solidFill>
                  <a:srgbClr val="000000"/>
                </a:solidFill>
                <a:latin typeface="Heebo Bold"/>
                <a:ea typeface="Heebo Bold"/>
                <a:cs typeface="Heebo Bold"/>
                <a:sym typeface="Heebo Bold"/>
              </a:rPr>
              <a:t>Microservices Architecture, where each service</a:t>
            </a:r>
          </a:p>
          <a:p>
            <a:pPr algn="just">
              <a:lnSpc>
                <a:spcPts val="3219"/>
              </a:lnSpc>
            </a:pPr>
            <a:r>
              <a:rPr lang="en-US" b="true" sz="2299" spc="229">
                <a:solidFill>
                  <a:srgbClr val="000000"/>
                </a:solidFill>
                <a:latin typeface="Heebo Bold"/>
                <a:ea typeface="Heebo Bold"/>
                <a:cs typeface="Heebo Bold"/>
                <a:sym typeface="Heebo Bold"/>
              </a:rPr>
              <a:t>is developed and deployed independently.</a:t>
            </a:r>
          </a:p>
        </p:txBody>
      </p:sp>
      <p:sp>
        <p:nvSpPr>
          <p:cNvPr name="TextBox 10" id="10"/>
          <p:cNvSpPr txBox="true"/>
          <p:nvPr/>
        </p:nvSpPr>
        <p:spPr>
          <a:xfrm rot="0">
            <a:off x="365897" y="3992895"/>
            <a:ext cx="8406563" cy="78930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All  clie</a:t>
            </a:r>
            <a:r>
              <a:rPr lang="en-US" b="true" sz="2299" spc="229">
                <a:solidFill>
                  <a:srgbClr val="000000"/>
                </a:solidFill>
                <a:latin typeface="Heebo Bold"/>
                <a:ea typeface="Heebo Bold"/>
                <a:cs typeface="Heebo Bold"/>
                <a:sym typeface="Heebo Bold"/>
              </a:rPr>
              <a:t>nt  requests  first  reach  the  API  Gateway,  which  acts  as  a single entry point for the system.</a:t>
            </a:r>
          </a:p>
        </p:txBody>
      </p:sp>
      <p:sp>
        <p:nvSpPr>
          <p:cNvPr name="TextBox 11" id="11"/>
          <p:cNvSpPr txBox="true"/>
          <p:nvPr/>
        </p:nvSpPr>
        <p:spPr>
          <a:xfrm rot="0">
            <a:off x="9242647" y="3992895"/>
            <a:ext cx="8548319" cy="118935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Mic</a:t>
            </a:r>
            <a:r>
              <a:rPr lang="en-US" b="true" sz="2299" spc="229">
                <a:solidFill>
                  <a:srgbClr val="000000"/>
                </a:solidFill>
                <a:latin typeface="Heebo Bold"/>
                <a:ea typeface="Heebo Bold"/>
                <a:cs typeface="Heebo Bold"/>
                <a:sym typeface="Heebo Bold"/>
              </a:rPr>
              <a:t>roservices communicate with each other using REST Template and exchange data in JSON format.</a:t>
            </a:r>
          </a:p>
          <a:p>
            <a:pPr algn="just" marL="0" indent="0" lvl="0">
              <a:lnSpc>
                <a:spcPts val="3219"/>
              </a:lnSpc>
            </a:pPr>
          </a:p>
        </p:txBody>
      </p:sp>
      <p:sp>
        <p:nvSpPr>
          <p:cNvPr name="TextBox 12" id="12"/>
          <p:cNvSpPr txBox="true"/>
          <p:nvPr/>
        </p:nvSpPr>
        <p:spPr>
          <a:xfrm rot="0">
            <a:off x="365897" y="6035522"/>
            <a:ext cx="8578281" cy="118935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The  Discovery  Service  m</a:t>
            </a:r>
            <a:r>
              <a:rPr lang="en-US" b="true" sz="2299" spc="229">
                <a:solidFill>
                  <a:srgbClr val="000000"/>
                </a:solidFill>
                <a:latin typeface="Heebo Bold"/>
                <a:ea typeface="Heebo Bold"/>
                <a:cs typeface="Heebo Bold"/>
                <a:sym typeface="Heebo Bold"/>
              </a:rPr>
              <a:t>aintains  a  registry of  all  available microservices and their network </a:t>
            </a:r>
          </a:p>
          <a:p>
            <a:pPr algn="just">
              <a:lnSpc>
                <a:spcPts val="3219"/>
              </a:lnSpc>
            </a:pPr>
            <a:r>
              <a:rPr lang="en-US" b="true" sz="2299" spc="229">
                <a:solidFill>
                  <a:srgbClr val="000000"/>
                </a:solidFill>
                <a:latin typeface="Heebo Bold"/>
                <a:ea typeface="Heebo Bold"/>
                <a:cs typeface="Heebo Bold"/>
                <a:sym typeface="Heebo Bold"/>
              </a:rPr>
              <a:t>locations.</a:t>
            </a:r>
          </a:p>
        </p:txBody>
      </p:sp>
      <p:sp>
        <p:nvSpPr>
          <p:cNvPr name="TextBox 13" id="13"/>
          <p:cNvSpPr txBox="true"/>
          <p:nvPr/>
        </p:nvSpPr>
        <p:spPr>
          <a:xfrm rot="0">
            <a:off x="9367625" y="6035522"/>
            <a:ext cx="8423341" cy="118935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Each service uses shared databa</a:t>
            </a:r>
            <a:r>
              <a:rPr lang="en-US" b="true" sz="2299" spc="229">
                <a:solidFill>
                  <a:srgbClr val="000000"/>
                </a:solidFill>
                <a:latin typeface="Heebo Bold"/>
                <a:ea typeface="Heebo Bold"/>
                <a:cs typeface="Heebo Bold"/>
                <a:sym typeface="Heebo Bold"/>
              </a:rPr>
              <a:t>se, ensuring data isolation and loose coupling.</a:t>
            </a:r>
          </a:p>
          <a:p>
            <a:pPr algn="just" marL="0" indent="0" lvl="0">
              <a:lnSpc>
                <a:spcPts val="3219"/>
              </a:lnSpc>
            </a:pPr>
          </a:p>
        </p:txBody>
      </p:sp>
      <p:sp>
        <p:nvSpPr>
          <p:cNvPr name="TextBox 14" id="14"/>
          <p:cNvSpPr txBox="true"/>
          <p:nvPr/>
        </p:nvSpPr>
        <p:spPr>
          <a:xfrm rot="0">
            <a:off x="365897" y="732393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04</a:t>
            </a:r>
          </a:p>
        </p:txBody>
      </p:sp>
      <p:sp>
        <p:nvSpPr>
          <p:cNvPr name="TextBox 15" id="15"/>
          <p:cNvSpPr txBox="true"/>
          <p:nvPr/>
        </p:nvSpPr>
        <p:spPr>
          <a:xfrm rot="0">
            <a:off x="9367625" y="7323937"/>
            <a:ext cx="4775418" cy="698500"/>
          </a:xfrm>
          <a:prstGeom prst="rect">
            <a:avLst/>
          </a:prstGeom>
        </p:spPr>
        <p:txBody>
          <a:bodyPr anchor="t" rtlCol="false" tIns="0" lIns="0" bIns="0" rIns="0">
            <a:spAutoFit/>
          </a:bodyPr>
          <a:lstStyle/>
          <a:p>
            <a:pPr algn="l" marL="0" indent="0" lvl="0">
              <a:lnSpc>
                <a:spcPts val="5599"/>
              </a:lnSpc>
            </a:pPr>
            <a:r>
              <a:rPr lang="en-US" b="true" sz="3999" spc="199">
                <a:solidFill>
                  <a:srgbClr val="A79E9C"/>
                </a:solidFill>
                <a:latin typeface="Helios Extended Bold"/>
                <a:ea typeface="Helios Extended Bold"/>
                <a:cs typeface="Helios Extended Bold"/>
                <a:sym typeface="Helios Extended Bold"/>
              </a:rPr>
              <a:t>08</a:t>
            </a:r>
          </a:p>
        </p:txBody>
      </p:sp>
      <p:sp>
        <p:nvSpPr>
          <p:cNvPr name="TextBox 16" id="16"/>
          <p:cNvSpPr txBox="true"/>
          <p:nvPr/>
        </p:nvSpPr>
        <p:spPr>
          <a:xfrm rot="0">
            <a:off x="365897" y="8089112"/>
            <a:ext cx="8578281" cy="1189355"/>
          </a:xfrm>
          <a:prstGeom prst="rect">
            <a:avLst/>
          </a:prstGeom>
        </p:spPr>
        <p:txBody>
          <a:bodyPr anchor="t" rtlCol="false" tIns="0" lIns="0" bIns="0" rIns="0">
            <a:spAutoFit/>
          </a:bodyPr>
          <a:lstStyle/>
          <a:p>
            <a:pPr algn="just">
              <a:lnSpc>
                <a:spcPts val="3219"/>
              </a:lnSpc>
            </a:pPr>
            <a:r>
              <a:rPr lang="en-US" b="true" sz="2299" spc="229">
                <a:solidFill>
                  <a:srgbClr val="000000"/>
                </a:solidFill>
                <a:latin typeface="Heebo Bold"/>
                <a:ea typeface="Heebo Bold"/>
                <a:cs typeface="Heebo Bold"/>
                <a:sym typeface="Heebo Bold"/>
              </a:rPr>
              <a:t>Based on th</a:t>
            </a:r>
            <a:r>
              <a:rPr lang="en-US" b="true" sz="2299" spc="229">
                <a:solidFill>
                  <a:srgbClr val="000000"/>
                </a:solidFill>
                <a:latin typeface="Heebo Bold"/>
                <a:ea typeface="Heebo Bold"/>
                <a:cs typeface="Heebo Bold"/>
                <a:sym typeface="Heebo Bold"/>
              </a:rPr>
              <a:t>e request type, the API Gateway forwards the request to the appropriate microservice.</a:t>
            </a:r>
          </a:p>
          <a:p>
            <a:pPr algn="just" marL="0" indent="0" lvl="0">
              <a:lnSpc>
                <a:spcPts val="3219"/>
              </a:lnSpc>
            </a:pPr>
          </a:p>
        </p:txBody>
      </p:sp>
      <p:sp>
        <p:nvSpPr>
          <p:cNvPr name="TextBox 17" id="17"/>
          <p:cNvSpPr txBox="true"/>
          <p:nvPr/>
        </p:nvSpPr>
        <p:spPr>
          <a:xfrm rot="0">
            <a:off x="9372599" y="8127212"/>
            <a:ext cx="8418367" cy="1189355"/>
          </a:xfrm>
          <a:prstGeom prst="rect">
            <a:avLst/>
          </a:prstGeom>
        </p:spPr>
        <p:txBody>
          <a:bodyPr anchor="t" rtlCol="false" tIns="0" lIns="0" bIns="0" rIns="0">
            <a:spAutoFit/>
          </a:bodyPr>
          <a:lstStyle/>
          <a:p>
            <a:pPr algn="just" marL="0" indent="0" lvl="0">
              <a:lnSpc>
                <a:spcPts val="3219"/>
              </a:lnSpc>
            </a:pPr>
            <a:r>
              <a:rPr lang="en-US" b="true" sz="2299" spc="229">
                <a:solidFill>
                  <a:srgbClr val="000000"/>
                </a:solidFill>
                <a:latin typeface="Heebo Bold"/>
                <a:ea typeface="Heebo Bold"/>
                <a:cs typeface="Heebo Bold"/>
                <a:sym typeface="Heebo Bold"/>
              </a:rPr>
              <a:t>After pro</a:t>
            </a:r>
            <a:r>
              <a:rPr lang="en-US" b="true" sz="2299" spc="229">
                <a:solidFill>
                  <a:srgbClr val="000000"/>
                </a:solidFill>
                <a:latin typeface="Heebo Bold"/>
                <a:ea typeface="Heebo Bold"/>
                <a:cs typeface="Heebo Bold"/>
                <a:sym typeface="Heebo Bold"/>
              </a:rPr>
              <a:t>cessing, the service sends a response back through the API Gateway to the frontend.</a:t>
            </a:r>
          </a:p>
          <a:p>
            <a:pPr algn="just" marL="0" indent="0" lvl="0">
              <a:lnSpc>
                <a:spcPts val="3219"/>
              </a:lnSpc>
            </a:pPr>
          </a:p>
        </p:txBody>
      </p:sp>
      <p:sp>
        <p:nvSpPr>
          <p:cNvPr name="AutoShape 18" id="18"/>
          <p:cNvSpPr/>
          <p:nvPr/>
        </p:nvSpPr>
        <p:spPr>
          <a:xfrm>
            <a:off x="9144000" y="5967540"/>
            <a:ext cx="28575" cy="4319460"/>
          </a:xfrm>
          <a:prstGeom prst="line">
            <a:avLst/>
          </a:prstGeom>
          <a:ln cap="flat" w="57150">
            <a:solidFill>
              <a:srgbClr val="4E6E81"/>
            </a:solidFill>
            <a:prstDash val="sysDash"/>
            <a:headEnd type="none" len="sm" w="sm"/>
            <a:tailEnd type="none" len="sm" w="sm"/>
          </a:ln>
        </p:spPr>
      </p:sp>
      <p:sp>
        <p:nvSpPr>
          <p:cNvPr name="AutoShape 19" id="19"/>
          <p:cNvSpPr/>
          <p:nvPr/>
        </p:nvSpPr>
        <p:spPr>
          <a:xfrm>
            <a:off x="9129712" y="1647890"/>
            <a:ext cx="28575" cy="4319460"/>
          </a:xfrm>
          <a:prstGeom prst="line">
            <a:avLst/>
          </a:prstGeom>
          <a:ln cap="flat" w="57150">
            <a:solidFill>
              <a:srgbClr val="4E6E81"/>
            </a:solidFill>
            <a:prstDash val="sysDash"/>
            <a:headEnd type="none" len="sm" w="sm"/>
            <a:tailEnd type="none" len="sm" w="sm"/>
          </a:ln>
        </p:spPr>
      </p:sp>
      <p:sp>
        <p:nvSpPr>
          <p:cNvPr name="TextBox 20" id="20"/>
          <p:cNvSpPr txBox="true"/>
          <p:nvPr/>
        </p:nvSpPr>
        <p:spPr>
          <a:xfrm rot="0">
            <a:off x="9242647" y="1933553"/>
            <a:ext cx="8548319" cy="1589405"/>
          </a:xfrm>
          <a:prstGeom prst="rect">
            <a:avLst/>
          </a:prstGeom>
        </p:spPr>
        <p:txBody>
          <a:bodyPr anchor="t" rtlCol="false" tIns="0" lIns="0" bIns="0" rIns="0">
            <a:spAutoFit/>
          </a:bodyPr>
          <a:lstStyle/>
          <a:p>
            <a:pPr algn="just">
              <a:lnSpc>
                <a:spcPts val="3219"/>
              </a:lnSpc>
              <a:spcBef>
                <a:spcPct val="0"/>
              </a:spcBef>
            </a:pPr>
            <a:r>
              <a:rPr lang="en-US" b="true" sz="2299" spc="229">
                <a:solidFill>
                  <a:srgbClr val="000000"/>
                </a:solidFill>
                <a:latin typeface="Heebo Bold"/>
                <a:ea typeface="Heebo Bold"/>
                <a:cs typeface="Heebo Bold"/>
                <a:sym typeface="Heebo Bold"/>
              </a:rPr>
              <a:t>E</a:t>
            </a:r>
            <a:r>
              <a:rPr lang="en-US" b="true" sz="2299" spc="229">
                <a:solidFill>
                  <a:srgbClr val="000000"/>
                </a:solidFill>
                <a:latin typeface="Heebo Bold"/>
                <a:ea typeface="Heebo Bold"/>
                <a:cs typeface="Heebo Bold"/>
                <a:sym typeface="Heebo Bold"/>
              </a:rPr>
              <a:t>ach microservice handles a specific business function such as user management, appointment scheduling, or medical records.</a:t>
            </a:r>
          </a:p>
          <a:p>
            <a:pPr algn="just">
              <a:lnSpc>
                <a:spcPts val="321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26521" y="1611306"/>
            <a:ext cx="13434957" cy="8346634"/>
          </a:xfrm>
          <a:custGeom>
            <a:avLst/>
            <a:gdLst/>
            <a:ahLst/>
            <a:cxnLst/>
            <a:rect r="r" b="b" t="t" l="l"/>
            <a:pathLst>
              <a:path h="8346634" w="13434957">
                <a:moveTo>
                  <a:pt x="0" y="0"/>
                </a:moveTo>
                <a:lnTo>
                  <a:pt x="13434958" y="0"/>
                </a:lnTo>
                <a:lnTo>
                  <a:pt x="13434958" y="8346634"/>
                </a:lnTo>
                <a:lnTo>
                  <a:pt x="0" y="8346634"/>
                </a:lnTo>
                <a:lnTo>
                  <a:pt x="0" y="0"/>
                </a:lnTo>
                <a:close/>
              </a:path>
            </a:pathLst>
          </a:custGeom>
          <a:blipFill>
            <a:blip r:embed="rId2"/>
            <a:stretch>
              <a:fillRect l="0" t="0" r="0" b="0"/>
            </a:stretch>
          </a:blipFill>
        </p:spPr>
      </p:sp>
      <p:sp>
        <p:nvSpPr>
          <p:cNvPr name="TextBox 3" id="3"/>
          <p:cNvSpPr txBox="true"/>
          <p:nvPr/>
        </p:nvSpPr>
        <p:spPr>
          <a:xfrm rot="0">
            <a:off x="2073295" y="349250"/>
            <a:ext cx="14141410" cy="752475"/>
          </a:xfrm>
          <a:prstGeom prst="rect">
            <a:avLst/>
          </a:prstGeom>
        </p:spPr>
        <p:txBody>
          <a:bodyPr anchor="t" rtlCol="false" tIns="0" lIns="0" bIns="0" rIns="0">
            <a:spAutoFit/>
          </a:bodyPr>
          <a:lstStyle/>
          <a:p>
            <a:pPr algn="ctr">
              <a:lnSpc>
                <a:spcPts val="6299"/>
              </a:lnSpc>
            </a:pPr>
            <a:r>
              <a:rPr lang="en-US" sz="4499" b="true">
                <a:solidFill>
                  <a:srgbClr val="000000"/>
                </a:solidFill>
                <a:latin typeface="Canva Sans Bold"/>
                <a:ea typeface="Canva Sans Bold"/>
                <a:cs typeface="Canva Sans Bold"/>
                <a:sym typeface="Canva Sans Bold"/>
              </a:rPr>
              <a:t>MICROSERVICES </a:t>
            </a:r>
            <a:r>
              <a:rPr lang="en-US" b="true" sz="4499">
                <a:solidFill>
                  <a:srgbClr val="000000"/>
                </a:solidFill>
                <a:latin typeface="Canva Sans Bold"/>
                <a:ea typeface="Canva Sans Bold"/>
                <a:cs typeface="Canva Sans Bold"/>
                <a:sym typeface="Canva Sans Bold"/>
              </a:rPr>
              <a:t>ARCHITECTURE AND WORKFLOW</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67178" y="124014"/>
            <a:ext cx="10030999" cy="1581768"/>
          </a:xfrm>
          <a:prstGeom prst="rect">
            <a:avLst/>
          </a:prstGeom>
        </p:spPr>
        <p:txBody>
          <a:bodyPr anchor="t" rtlCol="false" tIns="0" lIns="0" bIns="0" rIns="0">
            <a:spAutoFit/>
          </a:bodyPr>
          <a:lstStyle/>
          <a:p>
            <a:pPr algn="ctr">
              <a:lnSpc>
                <a:spcPts val="6265"/>
              </a:lnSpc>
            </a:pPr>
            <a:r>
              <a:rPr lang="en-US" b="true" sz="4475" spc="223">
                <a:solidFill>
                  <a:srgbClr val="000000"/>
                </a:solidFill>
                <a:latin typeface="Helios Extended Bold"/>
                <a:ea typeface="Helios Extended Bold"/>
                <a:cs typeface="Helios Extended Bold"/>
                <a:sym typeface="Helios Extended Bold"/>
              </a:rPr>
              <a:t>SYSTEM SERVICES</a:t>
            </a:r>
          </a:p>
          <a:p>
            <a:pPr algn="ctr" marL="0" indent="0" lvl="0">
              <a:lnSpc>
                <a:spcPts val="6265"/>
              </a:lnSpc>
            </a:pPr>
          </a:p>
        </p:txBody>
      </p:sp>
      <p:sp>
        <p:nvSpPr>
          <p:cNvPr name="TextBox 3" id="3"/>
          <p:cNvSpPr txBox="true"/>
          <p:nvPr/>
        </p:nvSpPr>
        <p:spPr>
          <a:xfrm rot="0">
            <a:off x="639881" y="4805049"/>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6756291"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02</a:t>
            </a:r>
          </a:p>
        </p:txBody>
      </p:sp>
      <p:sp>
        <p:nvSpPr>
          <p:cNvPr name="TextBox 5" id="5"/>
          <p:cNvSpPr txBox="true"/>
          <p:nvPr/>
        </p:nvSpPr>
        <p:spPr>
          <a:xfrm rot="0">
            <a:off x="420246" y="6251281"/>
            <a:ext cx="5734641" cy="356122"/>
          </a:xfrm>
          <a:prstGeom prst="rect">
            <a:avLst/>
          </a:prstGeom>
        </p:spPr>
        <p:txBody>
          <a:bodyPr anchor="t" rtlCol="false" tIns="0" lIns="0" bIns="0" rIns="0">
            <a:spAutoFit/>
          </a:bodyPr>
          <a:lstStyle/>
          <a:p>
            <a:pPr algn="ctr" marL="0" indent="0" lvl="0">
              <a:lnSpc>
                <a:spcPts val="3087"/>
              </a:lnSpc>
            </a:pPr>
            <a:r>
              <a:rPr lang="en-US" b="true" sz="2205" spc="220">
                <a:solidFill>
                  <a:srgbClr val="4E6E81"/>
                </a:solidFill>
                <a:latin typeface="Heebo Bold"/>
                <a:ea typeface="Heebo Bold"/>
                <a:cs typeface="Heebo Bold"/>
                <a:sym typeface="Heebo Bold"/>
              </a:rPr>
              <a:t>USER SERVICE</a:t>
            </a:r>
          </a:p>
        </p:txBody>
      </p:sp>
      <p:sp>
        <p:nvSpPr>
          <p:cNvPr name="TextBox 6" id="6"/>
          <p:cNvSpPr txBox="true"/>
          <p:nvPr/>
        </p:nvSpPr>
        <p:spPr>
          <a:xfrm rot="0">
            <a:off x="6455589" y="6232231"/>
            <a:ext cx="5376822" cy="789305"/>
          </a:xfrm>
          <a:prstGeom prst="rect">
            <a:avLst/>
          </a:prstGeom>
        </p:spPr>
        <p:txBody>
          <a:bodyPr anchor="t" rtlCol="false" tIns="0" lIns="0" bIns="0" rIns="0">
            <a:spAutoFit/>
          </a:bodyPr>
          <a:lstStyle/>
          <a:p>
            <a:pPr algn="ctr">
              <a:lnSpc>
                <a:spcPts val="3219"/>
              </a:lnSpc>
            </a:pPr>
            <a:r>
              <a:rPr lang="en-US" b="true" sz="2299" spc="229">
                <a:solidFill>
                  <a:srgbClr val="4E6E81"/>
                </a:solidFill>
                <a:latin typeface="Heebo Bold"/>
                <a:ea typeface="Heebo Bold"/>
                <a:cs typeface="Heebo Bold"/>
                <a:sym typeface="Heebo Bold"/>
              </a:rPr>
              <a:t>APPOINTMENT &amp; SCHEDULING SERVICES</a:t>
            </a:r>
          </a:p>
        </p:txBody>
      </p:sp>
      <p:sp>
        <p:nvSpPr>
          <p:cNvPr name="TextBox 7" id="7"/>
          <p:cNvSpPr txBox="true"/>
          <p:nvPr/>
        </p:nvSpPr>
        <p:spPr>
          <a:xfrm rot="0">
            <a:off x="12133113" y="6232231"/>
            <a:ext cx="4775418" cy="389255"/>
          </a:xfrm>
          <a:prstGeom prst="rect">
            <a:avLst/>
          </a:prstGeom>
        </p:spPr>
        <p:txBody>
          <a:bodyPr anchor="t" rtlCol="false" tIns="0" lIns="0" bIns="0" rIns="0">
            <a:spAutoFit/>
          </a:bodyPr>
          <a:lstStyle/>
          <a:p>
            <a:pPr algn="ctr" marL="0" indent="0" lvl="0">
              <a:lnSpc>
                <a:spcPts val="3219"/>
              </a:lnSpc>
            </a:pPr>
            <a:r>
              <a:rPr lang="en-US" b="true" sz="2299" spc="229">
                <a:solidFill>
                  <a:srgbClr val="4E6E81"/>
                </a:solidFill>
                <a:latin typeface="Heebo Bold"/>
                <a:ea typeface="Heebo Bold"/>
                <a:cs typeface="Heebo Bold"/>
                <a:sym typeface="Heebo Bold"/>
              </a:rPr>
              <a:t>MEDICAL RECORDS SERVICE</a:t>
            </a:r>
          </a:p>
        </p:txBody>
      </p:sp>
      <p:sp>
        <p:nvSpPr>
          <p:cNvPr name="TextBox 8" id="8"/>
          <p:cNvSpPr txBox="true"/>
          <p:nvPr/>
        </p:nvSpPr>
        <p:spPr>
          <a:xfrm rot="0">
            <a:off x="899858" y="6926286"/>
            <a:ext cx="4775418" cy="3050540"/>
          </a:xfrm>
          <a:prstGeom prst="rect">
            <a:avLst/>
          </a:prstGeom>
        </p:spPr>
        <p:txBody>
          <a:bodyPr anchor="t" rtlCol="false" tIns="0" lIns="0" bIns="0" rIns="0">
            <a:spAutoFit/>
          </a:bodyPr>
          <a:lstStyle/>
          <a:p>
            <a:pPr algn="just" marL="0" indent="0" lvl="0">
              <a:lnSpc>
                <a:spcPts val="3519"/>
              </a:lnSpc>
            </a:pPr>
            <a:r>
              <a:rPr lang="en-US" sz="2199" spc="219">
                <a:solidFill>
                  <a:srgbClr val="000000"/>
                </a:solidFill>
                <a:latin typeface="Lato"/>
                <a:ea typeface="Lato"/>
                <a:cs typeface="Lato"/>
                <a:sym typeface="Lato"/>
              </a:rPr>
              <a:t>This service manages user registration, login, and authentication. It also handles role-based access for Admin, Doctor, and Patient to ensure secure system usage.</a:t>
            </a:r>
          </a:p>
          <a:p>
            <a:pPr algn="just" marL="0" indent="0" lvl="0">
              <a:lnSpc>
                <a:spcPts val="3519"/>
              </a:lnSpc>
            </a:pPr>
          </a:p>
        </p:txBody>
      </p:sp>
      <p:sp>
        <p:nvSpPr>
          <p:cNvPr name="TextBox 9" id="9"/>
          <p:cNvSpPr txBox="true"/>
          <p:nvPr/>
        </p:nvSpPr>
        <p:spPr>
          <a:xfrm rot="0">
            <a:off x="7092468" y="6926286"/>
            <a:ext cx="4439241" cy="2174240"/>
          </a:xfrm>
          <a:prstGeom prst="rect">
            <a:avLst/>
          </a:prstGeom>
        </p:spPr>
        <p:txBody>
          <a:bodyPr anchor="t" rtlCol="false" tIns="0" lIns="0" bIns="0" rIns="0">
            <a:spAutoFit/>
          </a:bodyPr>
          <a:lstStyle/>
          <a:p>
            <a:pPr algn="just" marL="0" indent="0" lvl="0">
              <a:lnSpc>
                <a:spcPts val="3519"/>
              </a:lnSpc>
            </a:pPr>
            <a:r>
              <a:rPr lang="en-US" sz="2199" spc="219">
                <a:solidFill>
                  <a:srgbClr val="000000"/>
                </a:solidFill>
                <a:latin typeface="Lato"/>
                <a:ea typeface="Lato"/>
                <a:cs typeface="Lato"/>
                <a:sym typeface="Lato"/>
              </a:rPr>
              <a:t>This service manages doctor appointment booking and scheduling by validating availability and appointment status to prevent conflicts.</a:t>
            </a:r>
          </a:p>
        </p:txBody>
      </p:sp>
      <p:sp>
        <p:nvSpPr>
          <p:cNvPr name="TextBox 10" id="10"/>
          <p:cNvSpPr txBox="true"/>
          <p:nvPr/>
        </p:nvSpPr>
        <p:spPr>
          <a:xfrm rot="0">
            <a:off x="12352188" y="6926286"/>
            <a:ext cx="5157357" cy="2612390"/>
          </a:xfrm>
          <a:prstGeom prst="rect">
            <a:avLst/>
          </a:prstGeom>
        </p:spPr>
        <p:txBody>
          <a:bodyPr anchor="t" rtlCol="false" tIns="0" lIns="0" bIns="0" rIns="0">
            <a:spAutoFit/>
          </a:bodyPr>
          <a:lstStyle/>
          <a:p>
            <a:pPr algn="just">
              <a:lnSpc>
                <a:spcPts val="3519"/>
              </a:lnSpc>
            </a:pPr>
            <a:r>
              <a:rPr lang="en-US" sz="2199" spc="219">
                <a:solidFill>
                  <a:srgbClr val="000000"/>
                </a:solidFill>
                <a:latin typeface="Lato"/>
                <a:ea typeface="Lato"/>
                <a:cs typeface="Lato"/>
                <a:sym typeface="Lato"/>
              </a:rPr>
              <a:t>This service stores and manages patient medical records such as diagnosis and prescriptions. It ensures secure and authorized access to sensitive healthcare data.</a:t>
            </a:r>
          </a:p>
        </p:txBody>
      </p:sp>
      <p:sp>
        <p:nvSpPr>
          <p:cNvPr name="TextBox 11" id="11"/>
          <p:cNvSpPr txBox="true"/>
          <p:nvPr/>
        </p:nvSpPr>
        <p:spPr>
          <a:xfrm rot="0">
            <a:off x="12133113" y="4797280"/>
            <a:ext cx="4775418" cy="1423669"/>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03</a:t>
            </a:r>
          </a:p>
        </p:txBody>
      </p:sp>
      <p:sp>
        <p:nvSpPr>
          <p:cNvPr name="AutoShape 12" id="12"/>
          <p:cNvSpPr/>
          <p:nvPr/>
        </p:nvSpPr>
        <p:spPr>
          <a:xfrm flipH="true">
            <a:off x="786933" y="0"/>
            <a:ext cx="0" cy="3334176"/>
          </a:xfrm>
          <a:prstGeom prst="line">
            <a:avLst/>
          </a:prstGeom>
          <a:ln cap="flat" w="57150">
            <a:solidFill>
              <a:srgbClr val="4E6E81"/>
            </a:solidFill>
            <a:prstDash val="sysDash"/>
            <a:headEnd type="none" len="sm" w="sm"/>
            <a:tailEnd type="none" len="sm" w="sm"/>
          </a:ln>
        </p:spPr>
      </p:sp>
      <p:sp>
        <p:nvSpPr>
          <p:cNvPr name="TextBox 13" id="13"/>
          <p:cNvSpPr txBox="true"/>
          <p:nvPr/>
        </p:nvSpPr>
        <p:spPr>
          <a:xfrm rot="0">
            <a:off x="966821" y="1210419"/>
            <a:ext cx="16955761" cy="358076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The syst</a:t>
            </a:r>
            <a:r>
              <a:rPr lang="en-US" sz="3399">
                <a:solidFill>
                  <a:srgbClr val="000000"/>
                </a:solidFill>
                <a:latin typeface="Canva Sans"/>
                <a:ea typeface="Canva Sans"/>
                <a:cs typeface="Canva Sans"/>
                <a:sym typeface="Canva Sans"/>
              </a:rPr>
              <a:t>em is divided into multiple independent services to ensure scalability and maintainability. </a:t>
            </a:r>
          </a:p>
          <a:p>
            <a:pPr algn="just">
              <a:lnSpc>
                <a:spcPts val="4759"/>
              </a:lnSpc>
            </a:pPr>
            <a:r>
              <a:rPr lang="en-US" sz="3399">
                <a:solidFill>
                  <a:srgbClr val="000000"/>
                </a:solidFill>
                <a:latin typeface="Canva Sans"/>
                <a:ea typeface="Canva Sans"/>
                <a:cs typeface="Canva Sans"/>
                <a:sym typeface="Canva Sans"/>
              </a:rPr>
              <a:t>The services used in the project are:</a:t>
            </a:r>
          </a:p>
          <a:p>
            <a:pPr algn="just" marL="734059" indent="-367030" lvl="1">
              <a:lnSpc>
                <a:spcPts val="4759"/>
              </a:lnSpc>
              <a:buAutoNum type="arabicPeriod" startAt="1"/>
            </a:pPr>
            <a:r>
              <a:rPr lang="en-US" sz="3399">
                <a:solidFill>
                  <a:srgbClr val="000000"/>
                </a:solidFill>
                <a:latin typeface="Canva Sans"/>
                <a:ea typeface="Canva Sans"/>
                <a:cs typeface="Canva Sans"/>
                <a:sym typeface="Canva Sans"/>
              </a:rPr>
              <a:t>User Service (Spring Boot)</a:t>
            </a:r>
          </a:p>
          <a:p>
            <a:pPr algn="just" marL="734059" indent="-367030" lvl="1">
              <a:lnSpc>
                <a:spcPts val="4759"/>
              </a:lnSpc>
              <a:buAutoNum type="arabicPeriod" startAt="1"/>
            </a:pPr>
            <a:r>
              <a:rPr lang="en-US" sz="3399">
                <a:solidFill>
                  <a:srgbClr val="000000"/>
                </a:solidFill>
                <a:latin typeface="Canva Sans"/>
                <a:ea typeface="Canva Sans"/>
                <a:cs typeface="Canva Sans"/>
                <a:sym typeface="Canva Sans"/>
              </a:rPr>
              <a:t>Appointment &amp; Scheduling Service (Spring Boot)</a:t>
            </a:r>
          </a:p>
          <a:p>
            <a:pPr algn="just" marL="734059" indent="-367030" lvl="1">
              <a:lnSpc>
                <a:spcPts val="4759"/>
              </a:lnSpc>
              <a:buAutoNum type="arabicPeriod" startAt="1"/>
            </a:pPr>
            <a:r>
              <a:rPr lang="en-US" sz="3399">
                <a:solidFill>
                  <a:srgbClr val="000000"/>
                </a:solidFill>
                <a:latin typeface="Canva Sans"/>
                <a:ea typeface="Canva Sans"/>
                <a:cs typeface="Canva Sans"/>
                <a:sym typeface="Canva Sans"/>
              </a:rPr>
              <a:t>Medical Records Service (ASP.NET Core)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444954" y="3068188"/>
            <a:ext cx="8699046" cy="3783085"/>
          </a:xfrm>
          <a:custGeom>
            <a:avLst/>
            <a:gdLst/>
            <a:ahLst/>
            <a:cxnLst/>
            <a:rect r="r" b="b" t="t" l="l"/>
            <a:pathLst>
              <a:path h="3783085" w="8699046">
                <a:moveTo>
                  <a:pt x="0" y="0"/>
                </a:moveTo>
                <a:lnTo>
                  <a:pt x="8699046" y="0"/>
                </a:lnTo>
                <a:lnTo>
                  <a:pt x="8699046" y="3783085"/>
                </a:lnTo>
                <a:lnTo>
                  <a:pt x="0" y="3783085"/>
                </a:lnTo>
                <a:lnTo>
                  <a:pt x="0" y="0"/>
                </a:lnTo>
                <a:close/>
              </a:path>
            </a:pathLst>
          </a:custGeom>
          <a:blipFill>
            <a:blip r:embed="rId2"/>
            <a:stretch>
              <a:fillRect l="0" t="0" r="0" b="0"/>
            </a:stretch>
          </a:blipFill>
        </p:spPr>
      </p:sp>
      <p:sp>
        <p:nvSpPr>
          <p:cNvPr name="TextBox 6" id="6"/>
          <p:cNvSpPr txBox="true"/>
          <p:nvPr/>
        </p:nvSpPr>
        <p:spPr>
          <a:xfrm rot="0">
            <a:off x="8759618" y="196402"/>
            <a:ext cx="8700020" cy="1403350"/>
          </a:xfrm>
          <a:prstGeom prst="rect">
            <a:avLst/>
          </a:prstGeom>
        </p:spPr>
        <p:txBody>
          <a:bodyPr anchor="t" rtlCol="false" tIns="0" lIns="0" bIns="0" rIns="0">
            <a:spAutoFit/>
          </a:bodyPr>
          <a:lstStyle/>
          <a:p>
            <a:pPr algn="l">
              <a:lnSpc>
                <a:spcPts val="5599"/>
              </a:lnSpc>
            </a:pPr>
            <a:r>
              <a:rPr lang="en-US" b="true" sz="3999" spc="199">
                <a:solidFill>
                  <a:srgbClr val="000000"/>
                </a:solidFill>
                <a:latin typeface="Helios Extended Bold"/>
                <a:ea typeface="Helios Extended Bold"/>
                <a:cs typeface="Helios Extended Bold"/>
                <a:sym typeface="Helios Extended Bold"/>
              </a:rPr>
              <a:t>USER SERVICE - </a:t>
            </a:r>
          </a:p>
          <a:p>
            <a:pPr algn="l" marL="0" indent="0" lvl="0">
              <a:lnSpc>
                <a:spcPts val="5599"/>
              </a:lnSpc>
            </a:pPr>
            <a:r>
              <a:rPr lang="en-US" b="true" sz="3999" spc="199">
                <a:solidFill>
                  <a:srgbClr val="000000"/>
                </a:solidFill>
                <a:latin typeface="Helios Extended Bold"/>
                <a:ea typeface="Helios Extended Bold"/>
                <a:cs typeface="Helios Extended Bold"/>
                <a:sym typeface="Helios Extended Bold"/>
              </a:rPr>
              <a:t>DOCTOR REGISTRATION</a:t>
            </a:r>
          </a:p>
        </p:txBody>
      </p:sp>
      <p:sp>
        <p:nvSpPr>
          <p:cNvPr name="TextBox 7" id="7"/>
          <p:cNvSpPr txBox="true"/>
          <p:nvPr/>
        </p:nvSpPr>
        <p:spPr>
          <a:xfrm rot="0">
            <a:off x="8759618" y="3107911"/>
            <a:ext cx="8499682" cy="33318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Allows doctors to register with personal and professional details.</a:t>
            </a:r>
          </a:p>
          <a:p>
            <a:pPr algn="l" marL="453390" indent="-226695" lvl="1">
              <a:lnSpc>
                <a:spcPts val="3360"/>
              </a:lnSpc>
              <a:buFont typeface="Arial"/>
              <a:buChar char="•"/>
            </a:pPr>
            <a:r>
              <a:rPr lang="en-US" sz="2100" spc="210">
                <a:solidFill>
                  <a:srgbClr val="000000"/>
                </a:solidFill>
                <a:latin typeface="Lato"/>
                <a:ea typeface="Lato"/>
                <a:cs typeface="Lato"/>
                <a:sym typeface="Lato"/>
              </a:rPr>
              <a:t>Validates registration data and credentials.</a:t>
            </a:r>
          </a:p>
          <a:p>
            <a:pPr algn="l" marL="453390" indent="-226695" lvl="1">
              <a:lnSpc>
                <a:spcPts val="3360"/>
              </a:lnSpc>
              <a:buFont typeface="Arial"/>
              <a:buChar char="•"/>
            </a:pPr>
            <a:r>
              <a:rPr lang="en-US" sz="2100" spc="210">
                <a:solidFill>
                  <a:srgbClr val="000000"/>
                </a:solidFill>
                <a:latin typeface="Lato"/>
                <a:ea typeface="Lato"/>
                <a:cs typeface="Lato"/>
                <a:sym typeface="Lato"/>
              </a:rPr>
              <a:t>Doctor accounts require admin verification before activation.</a:t>
            </a:r>
          </a:p>
          <a:p>
            <a:pPr algn="l" marL="453390" indent="-226695" lvl="1">
              <a:lnSpc>
                <a:spcPts val="3360"/>
              </a:lnSpc>
              <a:buFont typeface="Arial"/>
              <a:buChar char="•"/>
            </a:pPr>
            <a:r>
              <a:rPr lang="en-US" sz="2100" spc="210">
                <a:solidFill>
                  <a:srgbClr val="000000"/>
                </a:solidFill>
                <a:latin typeface="Lato"/>
                <a:ea typeface="Lato"/>
                <a:cs typeface="Lato"/>
                <a:sym typeface="Lato"/>
              </a:rPr>
              <a:t>Provides role-based access to doctor-specific features.</a:t>
            </a:r>
          </a:p>
          <a:p>
            <a:pPr algn="l" marL="453390" indent="-226695" lvl="1">
              <a:lnSpc>
                <a:spcPts val="3360"/>
              </a:lnSpc>
              <a:buFont typeface="Arial"/>
              <a:buChar char="•"/>
            </a:pPr>
            <a:r>
              <a:rPr lang="en-US" sz="2100" spc="210">
                <a:solidFill>
                  <a:srgbClr val="000000"/>
                </a:solidFill>
                <a:latin typeface="Lato"/>
                <a:ea typeface="Lato"/>
                <a:cs typeface="Lato"/>
                <a:sym typeface="Lato"/>
              </a:rPr>
              <a:t>Ensures secure authentication and authorization.</a:t>
            </a:r>
          </a:p>
          <a:p>
            <a:pPr algn="l" marL="0" indent="0" lvl="0">
              <a:lnSpc>
                <a:spcPts val="3360"/>
              </a:lnSpc>
            </a:pPr>
          </a:p>
        </p:txBody>
      </p:sp>
      <p:sp>
        <p:nvSpPr>
          <p:cNvPr name="TextBox 8" id="8"/>
          <p:cNvSpPr txBox="true"/>
          <p:nvPr/>
        </p:nvSpPr>
        <p:spPr>
          <a:xfrm rot="0">
            <a:off x="8759618" y="6765548"/>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Doctor submits registration details.</a:t>
            </a:r>
          </a:p>
          <a:p>
            <a:pPr algn="l" marL="453390" indent="-226695" lvl="1">
              <a:lnSpc>
                <a:spcPts val="3360"/>
              </a:lnSpc>
              <a:buFont typeface="Arial"/>
              <a:buChar char="•"/>
            </a:pPr>
            <a:r>
              <a:rPr lang="en-US" sz="2100" spc="210">
                <a:solidFill>
                  <a:srgbClr val="000000"/>
                </a:solidFill>
                <a:latin typeface="Lato"/>
                <a:ea typeface="Lato"/>
                <a:cs typeface="Lato"/>
                <a:sym typeface="Lato"/>
              </a:rPr>
              <a:t>System validates input fields and password rules.</a:t>
            </a:r>
          </a:p>
          <a:p>
            <a:pPr algn="l" marL="453390" indent="-226695" lvl="1">
              <a:lnSpc>
                <a:spcPts val="3360"/>
              </a:lnSpc>
              <a:buFont typeface="Arial"/>
              <a:buChar char="•"/>
            </a:pPr>
            <a:r>
              <a:rPr lang="en-US" sz="2100" spc="210">
                <a:solidFill>
                  <a:srgbClr val="000000"/>
                </a:solidFill>
                <a:latin typeface="Lato"/>
                <a:ea typeface="Lato"/>
                <a:cs typeface="Lato"/>
                <a:sym typeface="Lato"/>
              </a:rPr>
              <a:t>Account is created in pending state.</a:t>
            </a:r>
          </a:p>
          <a:p>
            <a:pPr algn="l" marL="453390" indent="-226695" lvl="1">
              <a:lnSpc>
                <a:spcPts val="3360"/>
              </a:lnSpc>
              <a:buFont typeface="Arial"/>
              <a:buChar char="•"/>
            </a:pPr>
            <a:r>
              <a:rPr lang="en-US" sz="2100" spc="210">
                <a:solidFill>
                  <a:srgbClr val="000000"/>
                </a:solidFill>
                <a:latin typeface="Lato"/>
                <a:ea typeface="Lato"/>
                <a:cs typeface="Lato"/>
                <a:sym typeface="Lato"/>
              </a:rPr>
              <a:t>Admin verifies and activates the doctor account.</a:t>
            </a:r>
          </a:p>
          <a:p>
            <a:pPr algn="l" marL="453390" indent="-226695" lvl="1">
              <a:lnSpc>
                <a:spcPts val="3360"/>
              </a:lnSpc>
              <a:buFont typeface="Arial"/>
              <a:buChar char="•"/>
            </a:pPr>
            <a:r>
              <a:rPr lang="en-US" sz="2100" spc="210">
                <a:solidFill>
                  <a:srgbClr val="000000"/>
                </a:solidFill>
                <a:latin typeface="Lato"/>
                <a:ea typeface="Lato"/>
                <a:cs typeface="Lato"/>
                <a:sym typeface="Lato"/>
              </a:rPr>
              <a:t>Doctor logs in and accesses the dashboard.</a:t>
            </a:r>
          </a:p>
          <a:p>
            <a:pPr algn="l" marL="0" indent="0" lvl="0">
              <a:lnSpc>
                <a:spcPts val="3360"/>
              </a:lnSpc>
            </a:pPr>
          </a:p>
        </p:txBody>
      </p:sp>
      <p:sp>
        <p:nvSpPr>
          <p:cNvPr name="TextBox 9" id="9"/>
          <p:cNvSpPr txBox="true"/>
          <p:nvPr/>
        </p:nvSpPr>
        <p:spPr>
          <a:xfrm rot="0">
            <a:off x="8759618" y="2644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0" id="10"/>
          <p:cNvSpPr txBox="true"/>
          <p:nvPr/>
        </p:nvSpPr>
        <p:spPr>
          <a:xfrm rot="0">
            <a:off x="8759618" y="6301964"/>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68507" y="2682427"/>
            <a:ext cx="7284478" cy="3216811"/>
          </a:xfrm>
          <a:custGeom>
            <a:avLst/>
            <a:gdLst/>
            <a:ahLst/>
            <a:cxnLst/>
            <a:rect r="r" b="b" t="t" l="l"/>
            <a:pathLst>
              <a:path h="3216811" w="7284478">
                <a:moveTo>
                  <a:pt x="0" y="0"/>
                </a:moveTo>
                <a:lnTo>
                  <a:pt x="7284479" y="0"/>
                </a:lnTo>
                <a:lnTo>
                  <a:pt x="7284479" y="3216811"/>
                </a:lnTo>
                <a:lnTo>
                  <a:pt x="0" y="3216811"/>
                </a:lnTo>
                <a:lnTo>
                  <a:pt x="0" y="0"/>
                </a:lnTo>
                <a:close/>
              </a:path>
            </a:pathLst>
          </a:custGeom>
          <a:blipFill>
            <a:blip r:embed="rId2"/>
            <a:stretch>
              <a:fillRect l="0" t="0" r="-28078" b="0"/>
            </a:stretch>
          </a:blipFill>
        </p:spPr>
      </p:sp>
      <p:sp>
        <p:nvSpPr>
          <p:cNvPr name="TextBox 6" id="6"/>
          <p:cNvSpPr txBox="true"/>
          <p:nvPr/>
        </p:nvSpPr>
        <p:spPr>
          <a:xfrm rot="0">
            <a:off x="8759618" y="196402"/>
            <a:ext cx="8700020" cy="1403350"/>
          </a:xfrm>
          <a:prstGeom prst="rect">
            <a:avLst/>
          </a:prstGeom>
        </p:spPr>
        <p:txBody>
          <a:bodyPr anchor="t" rtlCol="false" tIns="0" lIns="0" bIns="0" rIns="0">
            <a:spAutoFit/>
          </a:bodyPr>
          <a:lstStyle/>
          <a:p>
            <a:pPr algn="l">
              <a:lnSpc>
                <a:spcPts val="5599"/>
              </a:lnSpc>
            </a:pPr>
            <a:r>
              <a:rPr lang="en-US" b="true" sz="3999" spc="199">
                <a:solidFill>
                  <a:srgbClr val="000000"/>
                </a:solidFill>
                <a:latin typeface="Helios Extended Bold"/>
                <a:ea typeface="Helios Extended Bold"/>
                <a:cs typeface="Helios Extended Bold"/>
                <a:sym typeface="Helios Extended Bold"/>
              </a:rPr>
              <a:t>USER SERVICE - </a:t>
            </a:r>
          </a:p>
          <a:p>
            <a:pPr algn="l" marL="0" indent="0" lvl="0">
              <a:lnSpc>
                <a:spcPts val="5599"/>
              </a:lnSpc>
            </a:pPr>
            <a:r>
              <a:rPr lang="en-US" b="true" sz="3999" spc="199">
                <a:solidFill>
                  <a:srgbClr val="000000"/>
                </a:solidFill>
                <a:latin typeface="Helios Extended Bold"/>
                <a:ea typeface="Helios Extended Bold"/>
                <a:cs typeface="Helios Extended Bold"/>
                <a:sym typeface="Helios Extended Bold"/>
              </a:rPr>
              <a:t>PATIENT REGISTRATION</a:t>
            </a:r>
          </a:p>
        </p:txBody>
      </p:sp>
      <p:sp>
        <p:nvSpPr>
          <p:cNvPr name="TextBox 7" id="7"/>
          <p:cNvSpPr txBox="true"/>
          <p:nvPr/>
        </p:nvSpPr>
        <p:spPr>
          <a:xfrm rot="0">
            <a:off x="8759618" y="3107911"/>
            <a:ext cx="8499682" cy="33318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Allows patients to register and manage their accounts.</a:t>
            </a:r>
          </a:p>
          <a:p>
            <a:pPr algn="l" marL="453390" indent="-226695" lvl="1">
              <a:lnSpc>
                <a:spcPts val="3360"/>
              </a:lnSpc>
              <a:buFont typeface="Arial"/>
              <a:buChar char="•"/>
            </a:pPr>
            <a:r>
              <a:rPr lang="en-US" sz="2100" spc="210">
                <a:solidFill>
                  <a:srgbClr val="000000"/>
                </a:solidFill>
                <a:latin typeface="Lato"/>
                <a:ea typeface="Lato"/>
                <a:cs typeface="Lato"/>
                <a:sym typeface="Lato"/>
              </a:rPr>
              <a:t>Validates user inputs and prevents duplicate registrations.</a:t>
            </a:r>
          </a:p>
          <a:p>
            <a:pPr algn="l" marL="453390" indent="-226695" lvl="1">
              <a:lnSpc>
                <a:spcPts val="3360"/>
              </a:lnSpc>
              <a:buFont typeface="Arial"/>
              <a:buChar char="•"/>
            </a:pPr>
            <a:r>
              <a:rPr lang="en-US" sz="2100" spc="210">
                <a:solidFill>
                  <a:srgbClr val="000000"/>
                </a:solidFill>
                <a:latin typeface="Lato"/>
                <a:ea typeface="Lato"/>
                <a:cs typeface="Lato"/>
                <a:sym typeface="Lato"/>
              </a:rPr>
              <a:t>Patien</a:t>
            </a:r>
            <a:r>
              <a:rPr lang="en-US" sz="2100" spc="210">
                <a:solidFill>
                  <a:srgbClr val="000000"/>
                </a:solidFill>
                <a:latin typeface="Lato"/>
                <a:ea typeface="Lato"/>
                <a:cs typeface="Lato"/>
                <a:sym typeface="Lato"/>
              </a:rPr>
              <a:t>t accounts are activated immediately after registration.</a:t>
            </a:r>
          </a:p>
          <a:p>
            <a:pPr algn="l" marL="453390" indent="-226695" lvl="1">
              <a:lnSpc>
                <a:spcPts val="3360"/>
              </a:lnSpc>
              <a:buFont typeface="Arial"/>
              <a:buChar char="•"/>
            </a:pPr>
            <a:r>
              <a:rPr lang="en-US" sz="2100" spc="210">
                <a:solidFill>
                  <a:srgbClr val="000000"/>
                </a:solidFill>
                <a:latin typeface="Lato"/>
                <a:ea typeface="Lato"/>
                <a:cs typeface="Lato"/>
                <a:sym typeface="Lato"/>
              </a:rPr>
              <a:t>Provides secure access to patient-specific features.</a:t>
            </a:r>
          </a:p>
          <a:p>
            <a:pPr algn="l" marL="453390" indent="-226695" lvl="1">
              <a:lnSpc>
                <a:spcPts val="3360"/>
              </a:lnSpc>
              <a:buFont typeface="Arial"/>
              <a:buChar char="•"/>
            </a:pPr>
            <a:r>
              <a:rPr lang="en-US" sz="2100" spc="210">
                <a:solidFill>
                  <a:srgbClr val="000000"/>
                </a:solidFill>
                <a:latin typeface="Lato"/>
                <a:ea typeface="Lato"/>
                <a:cs typeface="Lato"/>
                <a:sym typeface="Lato"/>
              </a:rPr>
              <a:t>S</a:t>
            </a:r>
            <a:r>
              <a:rPr lang="en-US" sz="2100" spc="210">
                <a:solidFill>
                  <a:srgbClr val="000000"/>
                </a:solidFill>
                <a:latin typeface="Lato"/>
                <a:ea typeface="Lato"/>
                <a:cs typeface="Lato"/>
                <a:sym typeface="Lato"/>
              </a:rPr>
              <a:t>upports password management and profile updates.</a:t>
            </a:r>
          </a:p>
          <a:p>
            <a:pPr algn="l" marL="0" indent="0" lvl="0">
              <a:lnSpc>
                <a:spcPts val="3360"/>
              </a:lnSpc>
            </a:pPr>
          </a:p>
        </p:txBody>
      </p:sp>
      <p:sp>
        <p:nvSpPr>
          <p:cNvPr name="TextBox 8" id="8"/>
          <p:cNvSpPr txBox="true"/>
          <p:nvPr/>
        </p:nvSpPr>
        <p:spPr>
          <a:xfrm rot="0">
            <a:off x="8759618" y="6765548"/>
            <a:ext cx="8499682" cy="29127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Patient submits registration details.</a:t>
            </a:r>
          </a:p>
          <a:p>
            <a:pPr algn="l" marL="453390" indent="-226695" lvl="1">
              <a:lnSpc>
                <a:spcPts val="3360"/>
              </a:lnSpc>
              <a:buFont typeface="Arial"/>
              <a:buChar char="•"/>
            </a:pPr>
            <a:r>
              <a:rPr lang="en-US" sz="2100" spc="210">
                <a:solidFill>
                  <a:srgbClr val="000000"/>
                </a:solidFill>
                <a:latin typeface="Lato"/>
                <a:ea typeface="Lato"/>
                <a:cs typeface="Lato"/>
                <a:sym typeface="Lato"/>
              </a:rPr>
              <a:t>System performs input validation.</a:t>
            </a:r>
          </a:p>
          <a:p>
            <a:pPr algn="l" marL="453390" indent="-226695" lvl="1">
              <a:lnSpc>
                <a:spcPts val="3360"/>
              </a:lnSpc>
              <a:buFont typeface="Arial"/>
              <a:buChar char="•"/>
            </a:pPr>
            <a:r>
              <a:rPr lang="en-US" sz="2100" spc="210">
                <a:solidFill>
                  <a:srgbClr val="000000"/>
                </a:solidFill>
                <a:latin typeface="Lato"/>
                <a:ea typeface="Lato"/>
                <a:cs typeface="Lato"/>
                <a:sym typeface="Lato"/>
              </a:rPr>
              <a:t>Account is created and activated.</a:t>
            </a:r>
          </a:p>
          <a:p>
            <a:pPr algn="l" marL="453390" indent="-226695" lvl="1">
              <a:lnSpc>
                <a:spcPts val="3360"/>
              </a:lnSpc>
              <a:buFont typeface="Arial"/>
              <a:buChar char="•"/>
            </a:pPr>
            <a:r>
              <a:rPr lang="en-US" sz="2100" spc="210">
                <a:solidFill>
                  <a:srgbClr val="000000"/>
                </a:solidFill>
                <a:latin typeface="Lato"/>
                <a:ea typeface="Lato"/>
                <a:cs typeface="Lato"/>
                <a:sym typeface="Lato"/>
              </a:rPr>
              <a:t>Pat</a:t>
            </a:r>
            <a:r>
              <a:rPr lang="en-US" sz="2100" spc="210">
                <a:solidFill>
                  <a:srgbClr val="000000"/>
                </a:solidFill>
                <a:latin typeface="Lato"/>
                <a:ea typeface="Lato"/>
                <a:cs typeface="Lato"/>
                <a:sym typeface="Lato"/>
              </a:rPr>
              <a:t>ient logs in to access services.</a:t>
            </a:r>
          </a:p>
          <a:p>
            <a:pPr algn="l" marL="453390" indent="-226695" lvl="1">
              <a:lnSpc>
                <a:spcPts val="3360"/>
              </a:lnSpc>
              <a:buFont typeface="Arial"/>
              <a:buChar char="•"/>
            </a:pPr>
            <a:r>
              <a:rPr lang="en-US" sz="2100" spc="210">
                <a:solidFill>
                  <a:srgbClr val="000000"/>
                </a:solidFill>
                <a:latin typeface="Lato"/>
                <a:ea typeface="Lato"/>
                <a:cs typeface="Lato"/>
                <a:sym typeface="Lato"/>
              </a:rPr>
              <a:t>Patient uses system features like booking appointments and viewing records.</a:t>
            </a:r>
          </a:p>
          <a:p>
            <a:pPr algn="l" marL="0" indent="0" lvl="0">
              <a:lnSpc>
                <a:spcPts val="3360"/>
              </a:lnSpc>
            </a:pPr>
          </a:p>
        </p:txBody>
      </p:sp>
      <p:sp>
        <p:nvSpPr>
          <p:cNvPr name="TextBox 9" id="9"/>
          <p:cNvSpPr txBox="true"/>
          <p:nvPr/>
        </p:nvSpPr>
        <p:spPr>
          <a:xfrm rot="0">
            <a:off x="8759618" y="2644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0" id="10"/>
          <p:cNvSpPr txBox="true"/>
          <p:nvPr/>
        </p:nvSpPr>
        <p:spPr>
          <a:xfrm rot="0">
            <a:off x="8759618" y="6301964"/>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08309" y="1687106"/>
            <a:ext cx="8192575" cy="5738649"/>
          </a:xfrm>
          <a:custGeom>
            <a:avLst/>
            <a:gdLst/>
            <a:ahLst/>
            <a:cxnLst/>
            <a:rect r="r" b="b" t="t" l="l"/>
            <a:pathLst>
              <a:path h="5738649" w="8192575">
                <a:moveTo>
                  <a:pt x="0" y="0"/>
                </a:moveTo>
                <a:lnTo>
                  <a:pt x="8192575" y="0"/>
                </a:lnTo>
                <a:lnTo>
                  <a:pt x="8192575" y="5738649"/>
                </a:lnTo>
                <a:lnTo>
                  <a:pt x="0" y="5738649"/>
                </a:lnTo>
                <a:lnTo>
                  <a:pt x="0" y="0"/>
                </a:lnTo>
                <a:close/>
              </a:path>
            </a:pathLst>
          </a:custGeom>
          <a:blipFill>
            <a:blip r:embed="rId2"/>
            <a:stretch>
              <a:fillRect l="0" t="0" r="0" b="0"/>
            </a:stretch>
          </a:blipFill>
        </p:spPr>
      </p:sp>
      <p:sp>
        <p:nvSpPr>
          <p:cNvPr name="TextBox 6" id="6"/>
          <p:cNvSpPr txBox="true"/>
          <p:nvPr/>
        </p:nvSpPr>
        <p:spPr>
          <a:xfrm rot="0">
            <a:off x="8759618" y="196402"/>
            <a:ext cx="8700020" cy="1403350"/>
          </a:xfrm>
          <a:prstGeom prst="rect">
            <a:avLst/>
          </a:prstGeom>
        </p:spPr>
        <p:txBody>
          <a:bodyPr anchor="t" rtlCol="false" tIns="0" lIns="0" bIns="0" rIns="0">
            <a:spAutoFit/>
          </a:bodyPr>
          <a:lstStyle/>
          <a:p>
            <a:pPr algn="l">
              <a:lnSpc>
                <a:spcPts val="5599"/>
              </a:lnSpc>
            </a:pPr>
            <a:r>
              <a:rPr lang="en-US" b="true" sz="3999" spc="199">
                <a:solidFill>
                  <a:srgbClr val="000000"/>
                </a:solidFill>
                <a:latin typeface="Helios Extended Bold"/>
                <a:ea typeface="Helios Extended Bold"/>
                <a:cs typeface="Helios Extended Bold"/>
                <a:sym typeface="Helios Extended Bold"/>
              </a:rPr>
              <a:t>USER SERVICE - </a:t>
            </a:r>
          </a:p>
          <a:p>
            <a:pPr algn="l" marL="0" indent="0" lvl="0">
              <a:lnSpc>
                <a:spcPts val="5599"/>
              </a:lnSpc>
            </a:pPr>
            <a:r>
              <a:rPr lang="en-US" b="true" sz="3999" spc="199">
                <a:solidFill>
                  <a:srgbClr val="000000"/>
                </a:solidFill>
                <a:latin typeface="Helios Extended Bold"/>
                <a:ea typeface="Helios Extended Bold"/>
                <a:cs typeface="Helios Extended Bold"/>
                <a:sym typeface="Helios Extended Bold"/>
              </a:rPr>
              <a:t>LOGIN</a:t>
            </a:r>
          </a:p>
        </p:txBody>
      </p:sp>
      <p:sp>
        <p:nvSpPr>
          <p:cNvPr name="TextBox 7" id="7"/>
          <p:cNvSpPr txBox="true"/>
          <p:nvPr/>
        </p:nvSpPr>
        <p:spPr>
          <a:xfrm rot="0">
            <a:off x="8759618" y="3107911"/>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Supports login for Patient, Doctor, and Admin roles.</a:t>
            </a:r>
          </a:p>
          <a:p>
            <a:pPr algn="l" marL="453390" indent="-226695" lvl="1">
              <a:lnSpc>
                <a:spcPts val="3360"/>
              </a:lnSpc>
              <a:buFont typeface="Arial"/>
              <a:buChar char="•"/>
            </a:pPr>
            <a:r>
              <a:rPr lang="en-US" sz="2100" spc="210">
                <a:solidFill>
                  <a:srgbClr val="000000"/>
                </a:solidFill>
                <a:latin typeface="Lato"/>
                <a:ea typeface="Lato"/>
                <a:cs typeface="Lato"/>
                <a:sym typeface="Lato"/>
              </a:rPr>
              <a:t>Validates credentials securely.</a:t>
            </a:r>
          </a:p>
          <a:p>
            <a:pPr algn="l" marL="453390" indent="-226695" lvl="1">
              <a:lnSpc>
                <a:spcPts val="3360"/>
              </a:lnSpc>
              <a:buFont typeface="Arial"/>
              <a:buChar char="•"/>
            </a:pPr>
            <a:r>
              <a:rPr lang="en-US" sz="2100" spc="210">
                <a:solidFill>
                  <a:srgbClr val="000000"/>
                </a:solidFill>
                <a:latin typeface="Lato"/>
                <a:ea typeface="Lato"/>
                <a:cs typeface="Lato"/>
                <a:sym typeface="Lato"/>
              </a:rPr>
              <a:t>Implemen</a:t>
            </a:r>
            <a:r>
              <a:rPr lang="en-US" sz="2100" spc="210">
                <a:solidFill>
                  <a:srgbClr val="000000"/>
                </a:solidFill>
                <a:latin typeface="Lato"/>
                <a:ea typeface="Lato"/>
                <a:cs typeface="Lato"/>
                <a:sym typeface="Lato"/>
              </a:rPr>
              <a:t>ts role-based authentication.</a:t>
            </a:r>
          </a:p>
          <a:p>
            <a:pPr algn="l" marL="453390" indent="-226695" lvl="1">
              <a:lnSpc>
                <a:spcPts val="3360"/>
              </a:lnSpc>
              <a:buFont typeface="Arial"/>
              <a:buChar char="•"/>
            </a:pPr>
            <a:r>
              <a:rPr lang="en-US" sz="2100" spc="210">
                <a:solidFill>
                  <a:srgbClr val="000000"/>
                </a:solidFill>
                <a:latin typeface="Lato"/>
                <a:ea typeface="Lato"/>
                <a:cs typeface="Lato"/>
                <a:sym typeface="Lato"/>
              </a:rPr>
              <a:t>Re</a:t>
            </a:r>
            <a:r>
              <a:rPr lang="en-US" sz="2100" spc="210">
                <a:solidFill>
                  <a:srgbClr val="000000"/>
                </a:solidFill>
                <a:latin typeface="Lato"/>
                <a:ea typeface="Lato"/>
                <a:cs typeface="Lato"/>
                <a:sym typeface="Lato"/>
              </a:rPr>
              <a:t>directs users to respective dashboards.</a:t>
            </a:r>
          </a:p>
          <a:p>
            <a:pPr algn="l" marL="453390" indent="-226695" lvl="1">
              <a:lnSpc>
                <a:spcPts val="3360"/>
              </a:lnSpc>
              <a:buFont typeface="Arial"/>
              <a:buChar char="•"/>
            </a:pPr>
            <a:r>
              <a:rPr lang="en-US" sz="2100" spc="210">
                <a:solidFill>
                  <a:srgbClr val="000000"/>
                </a:solidFill>
                <a:latin typeface="Lato"/>
                <a:ea typeface="Lato"/>
                <a:cs typeface="Lato"/>
                <a:sym typeface="Lato"/>
              </a:rPr>
              <a:t>Handles invalid login attempts gracefully.</a:t>
            </a:r>
          </a:p>
          <a:p>
            <a:pPr algn="l" marL="0" indent="0" lvl="0">
              <a:lnSpc>
                <a:spcPts val="3360"/>
              </a:lnSpc>
            </a:pPr>
          </a:p>
        </p:txBody>
      </p:sp>
      <p:sp>
        <p:nvSpPr>
          <p:cNvPr name="TextBox 8" id="8"/>
          <p:cNvSpPr txBox="true"/>
          <p:nvPr/>
        </p:nvSpPr>
        <p:spPr>
          <a:xfrm rot="0">
            <a:off x="8759618" y="6765548"/>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User enters login credentials.</a:t>
            </a:r>
          </a:p>
          <a:p>
            <a:pPr algn="l" marL="453390" indent="-226695" lvl="1">
              <a:lnSpc>
                <a:spcPts val="3360"/>
              </a:lnSpc>
              <a:buFont typeface="Arial"/>
              <a:buChar char="•"/>
            </a:pPr>
            <a:r>
              <a:rPr lang="en-US" sz="2100" spc="210">
                <a:solidFill>
                  <a:srgbClr val="000000"/>
                </a:solidFill>
                <a:latin typeface="Lato"/>
                <a:ea typeface="Lato"/>
                <a:cs typeface="Lato"/>
                <a:sym typeface="Lato"/>
              </a:rPr>
              <a:t>System validates input fields.</a:t>
            </a:r>
          </a:p>
          <a:p>
            <a:pPr algn="l" marL="453390" indent="-226695" lvl="1">
              <a:lnSpc>
                <a:spcPts val="3360"/>
              </a:lnSpc>
              <a:buFont typeface="Arial"/>
              <a:buChar char="•"/>
            </a:pPr>
            <a:r>
              <a:rPr lang="en-US" sz="2100" spc="210">
                <a:solidFill>
                  <a:srgbClr val="000000"/>
                </a:solidFill>
                <a:latin typeface="Lato"/>
                <a:ea typeface="Lato"/>
                <a:cs typeface="Lato"/>
                <a:sym typeface="Lato"/>
              </a:rPr>
              <a:t>Crede</a:t>
            </a:r>
            <a:r>
              <a:rPr lang="en-US" sz="2100" spc="210">
                <a:solidFill>
                  <a:srgbClr val="000000"/>
                </a:solidFill>
                <a:latin typeface="Lato"/>
                <a:ea typeface="Lato"/>
                <a:cs typeface="Lato"/>
                <a:sym typeface="Lato"/>
              </a:rPr>
              <a:t>ntials are authenticated.</a:t>
            </a:r>
          </a:p>
          <a:p>
            <a:pPr algn="l" marL="453390" indent="-226695" lvl="1">
              <a:lnSpc>
                <a:spcPts val="3360"/>
              </a:lnSpc>
              <a:buFont typeface="Arial"/>
              <a:buChar char="•"/>
            </a:pPr>
            <a:r>
              <a:rPr lang="en-US" sz="2100" spc="210">
                <a:solidFill>
                  <a:srgbClr val="000000"/>
                </a:solidFill>
                <a:latin typeface="Lato"/>
                <a:ea typeface="Lato"/>
                <a:cs typeface="Lato"/>
                <a:sym typeface="Lato"/>
              </a:rPr>
              <a:t>Us</a:t>
            </a:r>
            <a:r>
              <a:rPr lang="en-US" sz="2100" spc="210">
                <a:solidFill>
                  <a:srgbClr val="000000"/>
                </a:solidFill>
                <a:latin typeface="Lato"/>
                <a:ea typeface="Lato"/>
                <a:cs typeface="Lato"/>
                <a:sym typeface="Lato"/>
              </a:rPr>
              <a:t>er role is identified.</a:t>
            </a:r>
          </a:p>
          <a:p>
            <a:pPr algn="l" marL="453390" indent="-226695" lvl="1">
              <a:lnSpc>
                <a:spcPts val="3360"/>
              </a:lnSpc>
              <a:buFont typeface="Arial"/>
              <a:buChar char="•"/>
            </a:pPr>
            <a:r>
              <a:rPr lang="en-US" sz="2100" spc="210">
                <a:solidFill>
                  <a:srgbClr val="000000"/>
                </a:solidFill>
                <a:latin typeface="Lato"/>
                <a:ea typeface="Lato"/>
                <a:cs typeface="Lato"/>
                <a:sym typeface="Lato"/>
              </a:rPr>
              <a:t>U</a:t>
            </a:r>
            <a:r>
              <a:rPr lang="en-US" sz="2100" spc="210">
                <a:solidFill>
                  <a:srgbClr val="000000"/>
                </a:solidFill>
                <a:latin typeface="Lato"/>
                <a:ea typeface="Lato"/>
                <a:cs typeface="Lato"/>
                <a:sym typeface="Lato"/>
              </a:rPr>
              <a:t>ser is redirected to the appropriate dashboard.</a:t>
            </a:r>
          </a:p>
          <a:p>
            <a:pPr algn="l" marL="0" indent="0" lvl="0">
              <a:lnSpc>
                <a:spcPts val="3360"/>
              </a:lnSpc>
            </a:pPr>
          </a:p>
        </p:txBody>
      </p:sp>
      <p:sp>
        <p:nvSpPr>
          <p:cNvPr name="TextBox 9" id="9"/>
          <p:cNvSpPr txBox="true"/>
          <p:nvPr/>
        </p:nvSpPr>
        <p:spPr>
          <a:xfrm rot="0">
            <a:off x="8759618" y="2644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0" id="10"/>
          <p:cNvSpPr txBox="true"/>
          <p:nvPr/>
        </p:nvSpPr>
        <p:spPr>
          <a:xfrm rot="0">
            <a:off x="8759618" y="6301964"/>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0" y="3057077"/>
            <a:ext cx="9201302" cy="4129084"/>
          </a:xfrm>
          <a:custGeom>
            <a:avLst/>
            <a:gdLst/>
            <a:ahLst/>
            <a:cxnLst/>
            <a:rect r="r" b="b" t="t" l="l"/>
            <a:pathLst>
              <a:path h="4129084" w="9201302">
                <a:moveTo>
                  <a:pt x="0" y="0"/>
                </a:moveTo>
                <a:lnTo>
                  <a:pt x="9201302" y="0"/>
                </a:lnTo>
                <a:lnTo>
                  <a:pt x="9201302" y="4129084"/>
                </a:lnTo>
                <a:lnTo>
                  <a:pt x="0" y="4129084"/>
                </a:lnTo>
                <a:lnTo>
                  <a:pt x="0" y="0"/>
                </a:lnTo>
                <a:close/>
              </a:path>
            </a:pathLst>
          </a:custGeom>
          <a:blipFill>
            <a:blip r:embed="rId2"/>
            <a:stretch>
              <a:fillRect l="0" t="0" r="0" b="0"/>
            </a:stretch>
          </a:blipFill>
        </p:spPr>
      </p:sp>
      <p:sp>
        <p:nvSpPr>
          <p:cNvPr name="TextBox 6" id="6"/>
          <p:cNvSpPr txBox="true"/>
          <p:nvPr/>
        </p:nvSpPr>
        <p:spPr>
          <a:xfrm rot="0">
            <a:off x="8400884" y="186877"/>
            <a:ext cx="9573909" cy="1341755"/>
          </a:xfrm>
          <a:prstGeom prst="rect">
            <a:avLst/>
          </a:prstGeom>
        </p:spPr>
        <p:txBody>
          <a:bodyPr anchor="t" rtlCol="false" tIns="0" lIns="0" bIns="0" rIns="0">
            <a:spAutoFit/>
          </a:bodyPr>
          <a:lstStyle/>
          <a:p>
            <a:pPr algn="l" marL="0" indent="0" lvl="0">
              <a:lnSpc>
                <a:spcPts val="5320"/>
              </a:lnSpc>
            </a:pPr>
            <a:r>
              <a:rPr lang="en-US" b="true" sz="3800" spc="190">
                <a:solidFill>
                  <a:srgbClr val="000000"/>
                </a:solidFill>
                <a:latin typeface="Helios Extended Bold"/>
                <a:ea typeface="Helios Extended Bold"/>
                <a:cs typeface="Helios Extended Bold"/>
                <a:sym typeface="Helios Extended Bold"/>
              </a:rPr>
              <a:t>APPOINTMENT &amp; SCHEDULING SERVICE - DOCTOR</a:t>
            </a:r>
          </a:p>
        </p:txBody>
      </p:sp>
      <p:sp>
        <p:nvSpPr>
          <p:cNvPr name="TextBox 7" id="7"/>
          <p:cNvSpPr txBox="true"/>
          <p:nvPr/>
        </p:nvSpPr>
        <p:spPr>
          <a:xfrm rot="0">
            <a:off x="9144000" y="3109817"/>
            <a:ext cx="8499682" cy="20745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Manage availability and time slots.</a:t>
            </a:r>
          </a:p>
          <a:p>
            <a:pPr algn="l" marL="453390" indent="-226695" lvl="1">
              <a:lnSpc>
                <a:spcPts val="3360"/>
              </a:lnSpc>
              <a:buFont typeface="Arial"/>
              <a:buChar char="•"/>
            </a:pPr>
            <a:r>
              <a:rPr lang="en-US" sz="2100" spc="210">
                <a:solidFill>
                  <a:srgbClr val="000000"/>
                </a:solidFill>
                <a:latin typeface="Lato"/>
                <a:ea typeface="Lato"/>
                <a:cs typeface="Lato"/>
                <a:sym typeface="Lato"/>
              </a:rPr>
              <a:t>View </a:t>
            </a:r>
            <a:r>
              <a:rPr lang="en-US" sz="2100" spc="210">
                <a:solidFill>
                  <a:srgbClr val="000000"/>
                </a:solidFill>
                <a:latin typeface="Lato"/>
                <a:ea typeface="Lato"/>
                <a:cs typeface="Lato"/>
                <a:sym typeface="Lato"/>
              </a:rPr>
              <a:t>scheduled ap</a:t>
            </a:r>
            <a:r>
              <a:rPr lang="en-US" sz="2100" spc="210">
                <a:solidFill>
                  <a:srgbClr val="000000"/>
                </a:solidFill>
                <a:latin typeface="Lato"/>
                <a:ea typeface="Lato"/>
                <a:cs typeface="Lato"/>
                <a:sym typeface="Lato"/>
              </a:rPr>
              <a:t>pointmen</a:t>
            </a:r>
            <a:r>
              <a:rPr lang="en-US" sz="2100" spc="210">
                <a:solidFill>
                  <a:srgbClr val="000000"/>
                </a:solidFill>
                <a:latin typeface="Lato"/>
                <a:ea typeface="Lato"/>
                <a:cs typeface="Lato"/>
                <a:sym typeface="Lato"/>
              </a:rPr>
              <a:t>ts.</a:t>
            </a:r>
          </a:p>
          <a:p>
            <a:pPr algn="l" marL="453390" indent="-226695" lvl="1">
              <a:lnSpc>
                <a:spcPts val="3360"/>
              </a:lnSpc>
              <a:buFont typeface="Arial"/>
              <a:buChar char="•"/>
            </a:pPr>
            <a:r>
              <a:rPr lang="en-US" sz="2100" spc="210">
                <a:solidFill>
                  <a:srgbClr val="000000"/>
                </a:solidFill>
                <a:latin typeface="Lato"/>
                <a:ea typeface="Lato"/>
                <a:cs typeface="Lato"/>
                <a:sym typeface="Lato"/>
              </a:rPr>
              <a:t>Acc</a:t>
            </a:r>
            <a:r>
              <a:rPr lang="en-US" sz="2100" spc="210">
                <a:solidFill>
                  <a:srgbClr val="000000"/>
                </a:solidFill>
                <a:latin typeface="Lato"/>
                <a:ea typeface="Lato"/>
                <a:cs typeface="Lato"/>
                <a:sym typeface="Lato"/>
              </a:rPr>
              <a:t>ept or reject appointment requests.</a:t>
            </a:r>
          </a:p>
          <a:p>
            <a:pPr algn="l" marL="453390" indent="-226695" lvl="1">
              <a:lnSpc>
                <a:spcPts val="3360"/>
              </a:lnSpc>
              <a:buFont typeface="Arial"/>
              <a:buChar char="•"/>
            </a:pPr>
            <a:r>
              <a:rPr lang="en-US" sz="2100" spc="210">
                <a:solidFill>
                  <a:srgbClr val="000000"/>
                </a:solidFill>
                <a:latin typeface="Lato"/>
                <a:ea typeface="Lato"/>
                <a:cs typeface="Lato"/>
                <a:sym typeface="Lato"/>
              </a:rPr>
              <a:t>Tra</a:t>
            </a:r>
            <a:r>
              <a:rPr lang="en-US" sz="2100" spc="210">
                <a:solidFill>
                  <a:srgbClr val="000000"/>
                </a:solidFill>
                <a:latin typeface="Lato"/>
                <a:ea typeface="Lato"/>
                <a:cs typeface="Lato"/>
                <a:sym typeface="Lato"/>
              </a:rPr>
              <a:t>ck appointment status.</a:t>
            </a:r>
          </a:p>
          <a:p>
            <a:pPr algn="l" marL="0" indent="0" lvl="0">
              <a:lnSpc>
                <a:spcPts val="3360"/>
              </a:lnSpc>
            </a:pPr>
          </a:p>
        </p:txBody>
      </p:sp>
      <p:sp>
        <p:nvSpPr>
          <p:cNvPr name="TextBox 8" id="8"/>
          <p:cNvSpPr txBox="true"/>
          <p:nvPr/>
        </p:nvSpPr>
        <p:spPr>
          <a:xfrm rot="0">
            <a:off x="9144000" y="6764655"/>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Doctor defines availability slots.</a:t>
            </a:r>
          </a:p>
          <a:p>
            <a:pPr algn="l" marL="453390" indent="-226695" lvl="1">
              <a:lnSpc>
                <a:spcPts val="3360"/>
              </a:lnSpc>
              <a:buFont typeface="Arial"/>
              <a:buChar char="•"/>
            </a:pPr>
            <a:r>
              <a:rPr lang="en-US" sz="2100" spc="210">
                <a:solidFill>
                  <a:srgbClr val="000000"/>
                </a:solidFill>
                <a:latin typeface="Lato"/>
                <a:ea typeface="Lato"/>
                <a:cs typeface="Lato"/>
                <a:sym typeface="Lato"/>
              </a:rPr>
              <a:t>V</a:t>
            </a:r>
            <a:r>
              <a:rPr lang="en-US" sz="2100" spc="210">
                <a:solidFill>
                  <a:srgbClr val="000000"/>
                </a:solidFill>
                <a:latin typeface="Lato"/>
                <a:ea typeface="Lato"/>
                <a:cs typeface="Lato"/>
                <a:sym typeface="Lato"/>
              </a:rPr>
              <a:t>iews inco</a:t>
            </a:r>
            <a:r>
              <a:rPr lang="en-US" sz="2100" spc="210">
                <a:solidFill>
                  <a:srgbClr val="000000"/>
                </a:solidFill>
                <a:latin typeface="Lato"/>
                <a:ea typeface="Lato"/>
                <a:cs typeface="Lato"/>
                <a:sym typeface="Lato"/>
              </a:rPr>
              <a:t>m</a:t>
            </a:r>
            <a:r>
              <a:rPr lang="en-US" sz="2100" spc="210">
                <a:solidFill>
                  <a:srgbClr val="000000"/>
                </a:solidFill>
                <a:latin typeface="Lato"/>
                <a:ea typeface="Lato"/>
                <a:cs typeface="Lato"/>
                <a:sym typeface="Lato"/>
              </a:rPr>
              <a:t>ing appointment reque</a:t>
            </a:r>
            <a:r>
              <a:rPr lang="en-US" sz="2100" spc="210">
                <a:solidFill>
                  <a:srgbClr val="000000"/>
                </a:solidFill>
                <a:latin typeface="Lato"/>
                <a:ea typeface="Lato"/>
                <a:cs typeface="Lato"/>
                <a:sym typeface="Lato"/>
              </a:rPr>
              <a:t>sts.</a:t>
            </a:r>
          </a:p>
          <a:p>
            <a:pPr algn="l" marL="453390" indent="-226695" lvl="1">
              <a:lnSpc>
                <a:spcPts val="3360"/>
              </a:lnSpc>
              <a:buFont typeface="Arial"/>
              <a:buChar char="•"/>
            </a:pPr>
            <a:r>
              <a:rPr lang="en-US" sz="2100" spc="210">
                <a:solidFill>
                  <a:srgbClr val="000000"/>
                </a:solidFill>
                <a:latin typeface="Lato"/>
                <a:ea typeface="Lato"/>
                <a:cs typeface="Lato"/>
                <a:sym typeface="Lato"/>
              </a:rPr>
              <a:t>Acc</a:t>
            </a:r>
            <a:r>
              <a:rPr lang="en-US" sz="2100" spc="210">
                <a:solidFill>
                  <a:srgbClr val="000000"/>
                </a:solidFill>
                <a:latin typeface="Lato"/>
                <a:ea typeface="Lato"/>
                <a:cs typeface="Lato"/>
                <a:sym typeface="Lato"/>
              </a:rPr>
              <a:t>epts or rejects appointments.</a:t>
            </a:r>
          </a:p>
          <a:p>
            <a:pPr algn="l" marL="453390" indent="-226695" lvl="1">
              <a:lnSpc>
                <a:spcPts val="3360"/>
              </a:lnSpc>
              <a:buFont typeface="Arial"/>
              <a:buChar char="•"/>
            </a:pPr>
            <a:r>
              <a:rPr lang="en-US" sz="2100" spc="210">
                <a:solidFill>
                  <a:srgbClr val="000000"/>
                </a:solidFill>
                <a:latin typeface="Lato"/>
                <a:ea typeface="Lato"/>
                <a:cs typeface="Lato"/>
                <a:sym typeface="Lato"/>
              </a:rPr>
              <a:t>Appointment status updates automatically.</a:t>
            </a:r>
          </a:p>
          <a:p>
            <a:pPr algn="l" marL="453390" indent="-226695" lvl="1">
              <a:lnSpc>
                <a:spcPts val="3360"/>
              </a:lnSpc>
              <a:buFont typeface="Arial"/>
              <a:buChar char="•"/>
            </a:pPr>
            <a:r>
              <a:rPr lang="en-US" sz="2100" spc="210">
                <a:solidFill>
                  <a:srgbClr val="000000"/>
                </a:solidFill>
                <a:latin typeface="Lato"/>
                <a:ea typeface="Lato"/>
                <a:cs typeface="Lato"/>
                <a:sym typeface="Lato"/>
              </a:rPr>
              <a:t>Doctor manages daily schedule.</a:t>
            </a:r>
          </a:p>
          <a:p>
            <a:pPr algn="l" marL="0" indent="0" lvl="0">
              <a:lnSpc>
                <a:spcPts val="3360"/>
              </a:lnSpc>
            </a:pPr>
          </a:p>
        </p:txBody>
      </p:sp>
      <p:sp>
        <p:nvSpPr>
          <p:cNvPr name="TextBox 9" id="9"/>
          <p:cNvSpPr txBox="true"/>
          <p:nvPr/>
        </p:nvSpPr>
        <p:spPr>
          <a:xfrm rot="0">
            <a:off x="9201302" y="2649442"/>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0" id="10"/>
          <p:cNvSpPr txBox="true"/>
          <p:nvPr/>
        </p:nvSpPr>
        <p:spPr>
          <a:xfrm rot="0">
            <a:off x="9144000" y="6308312"/>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54018" y="282913"/>
            <a:ext cx="10404397" cy="4799028"/>
          </a:xfrm>
          <a:custGeom>
            <a:avLst/>
            <a:gdLst/>
            <a:ahLst/>
            <a:cxnLst/>
            <a:rect r="r" b="b" t="t" l="l"/>
            <a:pathLst>
              <a:path h="4799028" w="10404397">
                <a:moveTo>
                  <a:pt x="0" y="0"/>
                </a:moveTo>
                <a:lnTo>
                  <a:pt x="10404396" y="0"/>
                </a:lnTo>
                <a:lnTo>
                  <a:pt x="10404396" y="4799028"/>
                </a:lnTo>
                <a:lnTo>
                  <a:pt x="0" y="4799028"/>
                </a:lnTo>
                <a:lnTo>
                  <a:pt x="0" y="0"/>
                </a:lnTo>
                <a:close/>
              </a:path>
            </a:pathLst>
          </a:custGeom>
          <a:blipFill>
            <a:blip r:embed="rId2"/>
            <a:stretch>
              <a:fillRect l="0" t="0" r="0" b="0"/>
            </a:stretch>
          </a:blipFill>
        </p:spPr>
      </p:sp>
      <p:sp>
        <p:nvSpPr>
          <p:cNvPr name="Freeform 6" id="6"/>
          <p:cNvSpPr/>
          <p:nvPr/>
        </p:nvSpPr>
        <p:spPr>
          <a:xfrm flipH="false" flipV="false" rot="0">
            <a:off x="12275" y="5143500"/>
            <a:ext cx="10687882" cy="5097514"/>
          </a:xfrm>
          <a:custGeom>
            <a:avLst/>
            <a:gdLst/>
            <a:ahLst/>
            <a:cxnLst/>
            <a:rect r="r" b="b" t="t" l="l"/>
            <a:pathLst>
              <a:path h="5097514" w="10687882">
                <a:moveTo>
                  <a:pt x="0" y="0"/>
                </a:moveTo>
                <a:lnTo>
                  <a:pt x="10687882" y="0"/>
                </a:lnTo>
                <a:lnTo>
                  <a:pt x="10687882" y="5097514"/>
                </a:lnTo>
                <a:lnTo>
                  <a:pt x="0" y="5097514"/>
                </a:lnTo>
                <a:lnTo>
                  <a:pt x="0" y="0"/>
                </a:lnTo>
                <a:close/>
              </a:path>
            </a:pathLst>
          </a:custGeom>
          <a:blipFill>
            <a:blip r:embed="rId3"/>
            <a:stretch>
              <a:fillRect l="0" t="0" r="0" b="0"/>
            </a:stretch>
          </a:blipFill>
        </p:spPr>
      </p:sp>
      <p:sp>
        <p:nvSpPr>
          <p:cNvPr name="TextBox 7" id="7"/>
          <p:cNvSpPr txBox="true"/>
          <p:nvPr/>
        </p:nvSpPr>
        <p:spPr>
          <a:xfrm rot="0">
            <a:off x="8400884" y="186877"/>
            <a:ext cx="9573909" cy="1341755"/>
          </a:xfrm>
          <a:prstGeom prst="rect">
            <a:avLst/>
          </a:prstGeom>
        </p:spPr>
        <p:txBody>
          <a:bodyPr anchor="t" rtlCol="false" tIns="0" lIns="0" bIns="0" rIns="0">
            <a:spAutoFit/>
          </a:bodyPr>
          <a:lstStyle/>
          <a:p>
            <a:pPr algn="l" marL="0" indent="0" lvl="0">
              <a:lnSpc>
                <a:spcPts val="5320"/>
              </a:lnSpc>
            </a:pPr>
            <a:r>
              <a:rPr lang="en-US" b="true" sz="3800" spc="190">
                <a:solidFill>
                  <a:srgbClr val="000000"/>
                </a:solidFill>
                <a:latin typeface="Helios Extended Bold"/>
                <a:ea typeface="Helios Extended Bold"/>
                <a:cs typeface="Helios Extended Bold"/>
                <a:sym typeface="Helios Extended Bold"/>
              </a:rPr>
              <a:t>APPOINTMENT &amp; SCHEDULING SERVICE - PATIENT</a:t>
            </a:r>
          </a:p>
        </p:txBody>
      </p:sp>
      <p:sp>
        <p:nvSpPr>
          <p:cNvPr name="TextBox 8" id="8"/>
          <p:cNvSpPr txBox="true"/>
          <p:nvPr/>
        </p:nvSpPr>
        <p:spPr>
          <a:xfrm rot="0">
            <a:off x="10104324" y="2599877"/>
            <a:ext cx="8499682" cy="20745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Search doctors and view doctor details.</a:t>
            </a:r>
          </a:p>
          <a:p>
            <a:pPr algn="l" marL="453390" indent="-226695" lvl="1">
              <a:lnSpc>
                <a:spcPts val="3360"/>
              </a:lnSpc>
              <a:buFont typeface="Arial"/>
              <a:buChar char="•"/>
            </a:pPr>
            <a:r>
              <a:rPr lang="en-US" sz="2100" spc="210">
                <a:solidFill>
                  <a:srgbClr val="000000"/>
                </a:solidFill>
                <a:latin typeface="Lato"/>
                <a:ea typeface="Lato"/>
                <a:cs typeface="Lato"/>
                <a:sym typeface="Lato"/>
              </a:rPr>
              <a:t>Book, r</a:t>
            </a:r>
            <a:r>
              <a:rPr lang="en-US" sz="2100" spc="210">
                <a:solidFill>
                  <a:srgbClr val="000000"/>
                </a:solidFill>
                <a:latin typeface="Lato"/>
                <a:ea typeface="Lato"/>
                <a:cs typeface="Lato"/>
                <a:sym typeface="Lato"/>
              </a:rPr>
              <a:t>eschedule, or cancel ap</a:t>
            </a:r>
            <a:r>
              <a:rPr lang="en-US" sz="2100" spc="210">
                <a:solidFill>
                  <a:srgbClr val="000000"/>
                </a:solidFill>
                <a:latin typeface="Lato"/>
                <a:ea typeface="Lato"/>
                <a:cs typeface="Lato"/>
                <a:sym typeface="Lato"/>
              </a:rPr>
              <a:t>pointmen</a:t>
            </a:r>
            <a:r>
              <a:rPr lang="en-US" sz="2100" spc="210">
                <a:solidFill>
                  <a:srgbClr val="000000"/>
                </a:solidFill>
                <a:latin typeface="Lato"/>
                <a:ea typeface="Lato"/>
                <a:cs typeface="Lato"/>
                <a:sym typeface="Lato"/>
              </a:rPr>
              <a:t>ts.</a:t>
            </a:r>
          </a:p>
          <a:p>
            <a:pPr algn="l" marL="453390" indent="-226695" lvl="1">
              <a:lnSpc>
                <a:spcPts val="3360"/>
              </a:lnSpc>
              <a:buFont typeface="Arial"/>
              <a:buChar char="•"/>
            </a:pPr>
            <a:r>
              <a:rPr lang="en-US" sz="2100" spc="210">
                <a:solidFill>
                  <a:srgbClr val="000000"/>
                </a:solidFill>
                <a:latin typeface="Lato"/>
                <a:ea typeface="Lato"/>
                <a:cs typeface="Lato"/>
                <a:sym typeface="Lato"/>
              </a:rPr>
              <a:t>View appointment status and history.</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confirmation and status updates.</a:t>
            </a:r>
          </a:p>
          <a:p>
            <a:pPr algn="l" marL="0" indent="0" lvl="0">
              <a:lnSpc>
                <a:spcPts val="3360"/>
              </a:lnSpc>
            </a:pPr>
          </a:p>
        </p:txBody>
      </p:sp>
      <p:sp>
        <p:nvSpPr>
          <p:cNvPr name="TextBox 9" id="9"/>
          <p:cNvSpPr txBox="true"/>
          <p:nvPr/>
        </p:nvSpPr>
        <p:spPr>
          <a:xfrm rot="0">
            <a:off x="10104324" y="6762339"/>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Patient searches for doctors.</a:t>
            </a:r>
          </a:p>
          <a:p>
            <a:pPr algn="l" marL="453390" indent="-226695" lvl="1">
              <a:lnSpc>
                <a:spcPts val="3360"/>
              </a:lnSpc>
              <a:buFont typeface="Arial"/>
              <a:buChar char="•"/>
            </a:pPr>
            <a:r>
              <a:rPr lang="en-US" sz="2100" spc="210">
                <a:solidFill>
                  <a:srgbClr val="000000"/>
                </a:solidFill>
                <a:latin typeface="Lato"/>
                <a:ea typeface="Lato"/>
                <a:cs typeface="Lato"/>
                <a:sym typeface="Lato"/>
              </a:rPr>
              <a:t>Selects an available time slot.</a:t>
            </a:r>
          </a:p>
          <a:p>
            <a:pPr algn="l" marL="453390" indent="-226695" lvl="1">
              <a:lnSpc>
                <a:spcPts val="3360"/>
              </a:lnSpc>
              <a:buFont typeface="Arial"/>
              <a:buChar char="•"/>
            </a:pPr>
            <a:r>
              <a:rPr lang="en-US" sz="2100" spc="210">
                <a:solidFill>
                  <a:srgbClr val="000000"/>
                </a:solidFill>
                <a:latin typeface="Lato"/>
                <a:ea typeface="Lato"/>
                <a:cs typeface="Lato"/>
                <a:sym typeface="Lato"/>
              </a:rPr>
              <a:t>System validates availability and confi</a:t>
            </a:r>
            <a:r>
              <a:rPr lang="en-US" sz="2100" spc="210">
                <a:solidFill>
                  <a:srgbClr val="000000"/>
                </a:solidFill>
                <a:latin typeface="Lato"/>
                <a:ea typeface="Lato"/>
                <a:cs typeface="Lato"/>
                <a:sym typeface="Lato"/>
              </a:rPr>
              <a:t>rm</a:t>
            </a:r>
            <a:r>
              <a:rPr lang="en-US" sz="2100" spc="210">
                <a:solidFill>
                  <a:srgbClr val="000000"/>
                </a:solidFill>
                <a:latin typeface="Lato"/>
                <a:ea typeface="Lato"/>
                <a:cs typeface="Lato"/>
                <a:sym typeface="Lato"/>
              </a:rPr>
              <a:t>s booking.</a:t>
            </a:r>
          </a:p>
          <a:p>
            <a:pPr algn="l" marL="453390" indent="-226695" lvl="1">
              <a:lnSpc>
                <a:spcPts val="3360"/>
              </a:lnSpc>
              <a:buFont typeface="Arial"/>
              <a:buChar char="•"/>
            </a:pPr>
            <a:r>
              <a:rPr lang="en-US" sz="2100" spc="210">
                <a:solidFill>
                  <a:srgbClr val="000000"/>
                </a:solidFill>
                <a:latin typeface="Lato"/>
                <a:ea typeface="Lato"/>
                <a:cs typeface="Lato"/>
                <a:sym typeface="Lato"/>
              </a:rPr>
              <a:t>Patient can re</a:t>
            </a:r>
            <a:r>
              <a:rPr lang="en-US" sz="2100" spc="210">
                <a:solidFill>
                  <a:srgbClr val="000000"/>
                </a:solidFill>
                <a:latin typeface="Lato"/>
                <a:ea typeface="Lato"/>
                <a:cs typeface="Lato"/>
                <a:sym typeface="Lato"/>
              </a:rPr>
              <a:t>sch</a:t>
            </a:r>
            <a:r>
              <a:rPr lang="en-US" sz="2100" spc="210">
                <a:solidFill>
                  <a:srgbClr val="000000"/>
                </a:solidFill>
                <a:latin typeface="Lato"/>
                <a:ea typeface="Lato"/>
                <a:cs typeface="Lato"/>
                <a:sym typeface="Lato"/>
              </a:rPr>
              <a:t>edule or cancel if required.</a:t>
            </a:r>
          </a:p>
          <a:p>
            <a:pPr algn="l" marL="453390" indent="-226695" lvl="1">
              <a:lnSpc>
                <a:spcPts val="3360"/>
              </a:lnSpc>
              <a:buFont typeface="Arial"/>
              <a:buChar char="•"/>
            </a:pPr>
            <a:r>
              <a:rPr lang="en-US" sz="2100" spc="210">
                <a:solidFill>
                  <a:srgbClr val="000000"/>
                </a:solidFill>
                <a:latin typeface="Lato"/>
                <a:ea typeface="Lato"/>
                <a:cs typeface="Lato"/>
                <a:sym typeface="Lato"/>
              </a:rPr>
              <a:t>Appointment status is updated accordingly.</a:t>
            </a:r>
          </a:p>
          <a:p>
            <a:pPr algn="l" marL="0" indent="0" lvl="0">
              <a:lnSpc>
                <a:spcPts val="3360"/>
              </a:lnSpc>
            </a:pPr>
          </a:p>
        </p:txBody>
      </p:sp>
      <p:sp>
        <p:nvSpPr>
          <p:cNvPr name="TextBox 10" id="10"/>
          <p:cNvSpPr txBox="true"/>
          <p:nvPr/>
        </p:nvSpPr>
        <p:spPr>
          <a:xfrm rot="0">
            <a:off x="10104324" y="1882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1" id="11"/>
          <p:cNvSpPr txBox="true"/>
          <p:nvPr/>
        </p:nvSpPr>
        <p:spPr>
          <a:xfrm rot="0">
            <a:off x="10283618" y="6296881"/>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0" y="3057077"/>
            <a:ext cx="9976168" cy="4787244"/>
          </a:xfrm>
          <a:custGeom>
            <a:avLst/>
            <a:gdLst/>
            <a:ahLst/>
            <a:cxnLst/>
            <a:rect r="r" b="b" t="t" l="l"/>
            <a:pathLst>
              <a:path h="4787244" w="9976168">
                <a:moveTo>
                  <a:pt x="0" y="0"/>
                </a:moveTo>
                <a:lnTo>
                  <a:pt x="9976168" y="0"/>
                </a:lnTo>
                <a:lnTo>
                  <a:pt x="9976168" y="4787244"/>
                </a:lnTo>
                <a:lnTo>
                  <a:pt x="0" y="4787244"/>
                </a:lnTo>
                <a:lnTo>
                  <a:pt x="0" y="0"/>
                </a:lnTo>
                <a:close/>
              </a:path>
            </a:pathLst>
          </a:custGeom>
          <a:blipFill>
            <a:blip r:embed="rId2"/>
            <a:stretch>
              <a:fillRect l="0" t="0" r="0" b="0"/>
            </a:stretch>
          </a:blipFill>
        </p:spPr>
      </p:sp>
      <p:sp>
        <p:nvSpPr>
          <p:cNvPr name="TextBox 6" id="6"/>
          <p:cNvSpPr txBox="true"/>
          <p:nvPr/>
        </p:nvSpPr>
        <p:spPr>
          <a:xfrm rot="0">
            <a:off x="8400884" y="186877"/>
            <a:ext cx="9573909" cy="1341755"/>
          </a:xfrm>
          <a:prstGeom prst="rect">
            <a:avLst/>
          </a:prstGeom>
        </p:spPr>
        <p:txBody>
          <a:bodyPr anchor="t" rtlCol="false" tIns="0" lIns="0" bIns="0" rIns="0">
            <a:spAutoFit/>
          </a:bodyPr>
          <a:lstStyle/>
          <a:p>
            <a:pPr algn="l" marL="0" indent="0" lvl="0">
              <a:lnSpc>
                <a:spcPts val="5320"/>
              </a:lnSpc>
            </a:pPr>
            <a:r>
              <a:rPr lang="en-US" b="true" sz="3800" spc="190">
                <a:solidFill>
                  <a:srgbClr val="000000"/>
                </a:solidFill>
                <a:latin typeface="Helios Extended Bold"/>
                <a:ea typeface="Helios Extended Bold"/>
                <a:cs typeface="Helios Extended Bold"/>
                <a:sym typeface="Helios Extended Bold"/>
              </a:rPr>
              <a:t>APPOINTMENT &amp; SCHEDULING SERVICE - ADMIN</a:t>
            </a:r>
          </a:p>
        </p:txBody>
      </p:sp>
      <p:sp>
        <p:nvSpPr>
          <p:cNvPr name="TextBox 7" id="7"/>
          <p:cNvSpPr txBox="true"/>
          <p:nvPr/>
        </p:nvSpPr>
        <p:spPr>
          <a:xfrm rot="0">
            <a:off x="9976168" y="4063365"/>
            <a:ext cx="8499682" cy="20745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Monitor all appointments</a:t>
            </a:r>
            <a:r>
              <a:rPr lang="en-US" sz="2100" spc="210">
                <a:solidFill>
                  <a:srgbClr val="000000"/>
                </a:solidFill>
                <a:latin typeface="Lato"/>
                <a:ea typeface="Lato"/>
                <a:cs typeface="Lato"/>
                <a:sym typeface="Lato"/>
              </a:rPr>
              <a:t> acro</a:t>
            </a:r>
            <a:r>
              <a:rPr lang="en-US" sz="2100" spc="210">
                <a:solidFill>
                  <a:srgbClr val="000000"/>
                </a:solidFill>
                <a:latin typeface="Lato"/>
                <a:ea typeface="Lato"/>
                <a:cs typeface="Lato"/>
                <a:sym typeface="Lato"/>
              </a:rPr>
              <a:t>ss the system.</a:t>
            </a:r>
          </a:p>
          <a:p>
            <a:pPr algn="l" marL="453390" indent="-226695" lvl="1">
              <a:lnSpc>
                <a:spcPts val="3360"/>
              </a:lnSpc>
              <a:buFont typeface="Arial"/>
              <a:buChar char="•"/>
            </a:pPr>
            <a:r>
              <a:rPr lang="en-US" sz="2100" spc="210">
                <a:solidFill>
                  <a:srgbClr val="000000"/>
                </a:solidFill>
                <a:latin typeface="Lato"/>
                <a:ea typeface="Lato"/>
                <a:cs typeface="Lato"/>
                <a:sym typeface="Lato"/>
              </a:rPr>
              <a:t>Track ap</a:t>
            </a:r>
            <a:r>
              <a:rPr lang="en-US" sz="2100" spc="210">
                <a:solidFill>
                  <a:srgbClr val="000000"/>
                </a:solidFill>
                <a:latin typeface="Lato"/>
                <a:ea typeface="Lato"/>
                <a:cs typeface="Lato"/>
                <a:sym typeface="Lato"/>
              </a:rPr>
              <a:t>pointmen</a:t>
            </a:r>
            <a:r>
              <a:rPr lang="en-US" sz="2100" spc="210">
                <a:solidFill>
                  <a:srgbClr val="000000"/>
                </a:solidFill>
                <a:latin typeface="Lato"/>
                <a:ea typeface="Lato"/>
                <a:cs typeface="Lato"/>
                <a:sym typeface="Lato"/>
              </a:rPr>
              <a:t>t lifecycle and activities.</a:t>
            </a:r>
          </a:p>
          <a:p>
            <a:pPr algn="l" marL="453390" indent="-226695" lvl="1">
              <a:lnSpc>
                <a:spcPts val="3360"/>
              </a:lnSpc>
              <a:buFont typeface="Arial"/>
              <a:buChar char="•"/>
            </a:pPr>
            <a:r>
              <a:rPr lang="en-US" sz="2100" spc="210">
                <a:solidFill>
                  <a:srgbClr val="000000"/>
                </a:solidFill>
                <a:latin typeface="Lato"/>
                <a:ea typeface="Lato"/>
                <a:cs typeface="Lato"/>
                <a:sym typeface="Lato"/>
              </a:rPr>
              <a:t>Ensure smooth scheduling operations.</a:t>
            </a:r>
          </a:p>
          <a:p>
            <a:pPr algn="l" marL="453390" indent="-226695" lvl="1">
              <a:lnSpc>
                <a:spcPts val="3360"/>
              </a:lnSpc>
              <a:buFont typeface="Arial"/>
              <a:buChar char="•"/>
            </a:pPr>
            <a:r>
              <a:rPr lang="en-US" sz="2100" spc="210">
                <a:solidFill>
                  <a:srgbClr val="000000"/>
                </a:solidFill>
                <a:latin typeface="Lato"/>
                <a:ea typeface="Lato"/>
                <a:cs typeface="Lato"/>
                <a:sym typeface="Lato"/>
              </a:rPr>
              <a:t>Resolve conflicts or issues if required.</a:t>
            </a:r>
          </a:p>
          <a:p>
            <a:pPr algn="l" marL="0" indent="0" lvl="0">
              <a:lnSpc>
                <a:spcPts val="3360"/>
              </a:lnSpc>
            </a:pPr>
          </a:p>
        </p:txBody>
      </p:sp>
      <p:sp>
        <p:nvSpPr>
          <p:cNvPr name="TextBox 8" id="8"/>
          <p:cNvSpPr txBox="true"/>
          <p:nvPr/>
        </p:nvSpPr>
        <p:spPr>
          <a:xfrm rot="0">
            <a:off x="9788318" y="6764186"/>
            <a:ext cx="8499682" cy="20745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Admin monitors appointment data.</a:t>
            </a:r>
          </a:p>
          <a:p>
            <a:pPr algn="l" marL="453390" indent="-226695" lvl="1">
              <a:lnSpc>
                <a:spcPts val="3360"/>
              </a:lnSpc>
              <a:buFont typeface="Arial"/>
              <a:buChar char="•"/>
            </a:pPr>
            <a:r>
              <a:rPr lang="en-US" sz="2100" spc="210">
                <a:solidFill>
                  <a:srgbClr val="000000"/>
                </a:solidFill>
                <a:latin typeface="Lato"/>
                <a:ea typeface="Lato"/>
                <a:cs typeface="Lato"/>
                <a:sym typeface="Lato"/>
              </a:rPr>
              <a:t>Reviews booking, re</a:t>
            </a:r>
            <a:r>
              <a:rPr lang="en-US" sz="2100" spc="210">
                <a:solidFill>
                  <a:srgbClr val="000000"/>
                </a:solidFill>
                <a:latin typeface="Lato"/>
                <a:ea typeface="Lato"/>
                <a:cs typeface="Lato"/>
                <a:sym typeface="Lato"/>
              </a:rPr>
              <a:t>sch</a:t>
            </a:r>
            <a:r>
              <a:rPr lang="en-US" sz="2100" spc="210">
                <a:solidFill>
                  <a:srgbClr val="000000"/>
                </a:solidFill>
                <a:latin typeface="Lato"/>
                <a:ea typeface="Lato"/>
                <a:cs typeface="Lato"/>
                <a:sym typeface="Lato"/>
              </a:rPr>
              <a:t>eduling, and cancellations.</a:t>
            </a:r>
          </a:p>
          <a:p>
            <a:pPr algn="l" marL="453390" indent="-226695" lvl="1">
              <a:lnSpc>
                <a:spcPts val="3360"/>
              </a:lnSpc>
              <a:buFont typeface="Arial"/>
              <a:buChar char="•"/>
            </a:pPr>
            <a:r>
              <a:rPr lang="en-US" sz="2100" spc="210">
                <a:solidFill>
                  <a:srgbClr val="000000"/>
                </a:solidFill>
                <a:latin typeface="Lato"/>
                <a:ea typeface="Lato"/>
                <a:cs typeface="Lato"/>
                <a:sym typeface="Lato"/>
              </a:rPr>
              <a:t>Tracks system activity and usage.</a:t>
            </a:r>
          </a:p>
          <a:p>
            <a:pPr algn="l" marL="453390" indent="-226695" lvl="1">
              <a:lnSpc>
                <a:spcPts val="3360"/>
              </a:lnSpc>
              <a:buFont typeface="Arial"/>
              <a:buChar char="•"/>
            </a:pPr>
            <a:r>
              <a:rPr lang="en-US" sz="2100" spc="210">
                <a:solidFill>
                  <a:srgbClr val="000000"/>
                </a:solidFill>
                <a:latin typeface="Lato"/>
                <a:ea typeface="Lato"/>
                <a:cs typeface="Lato"/>
                <a:sym typeface="Lato"/>
              </a:rPr>
              <a:t>Takes action in case of conflicts or anomalies.</a:t>
            </a:r>
          </a:p>
          <a:p>
            <a:pPr algn="l" marL="0" indent="0" lvl="0">
              <a:lnSpc>
                <a:spcPts val="3360"/>
              </a:lnSpc>
            </a:pPr>
          </a:p>
        </p:txBody>
      </p:sp>
      <p:sp>
        <p:nvSpPr>
          <p:cNvPr name="TextBox 9" id="9"/>
          <p:cNvSpPr txBox="true"/>
          <p:nvPr/>
        </p:nvSpPr>
        <p:spPr>
          <a:xfrm rot="0">
            <a:off x="9976168" y="3536315"/>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0" id="10"/>
          <p:cNvSpPr txBox="true"/>
          <p:nvPr/>
        </p:nvSpPr>
        <p:spPr>
          <a:xfrm rot="0">
            <a:off x="9976168" y="6301964"/>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66700" y="0"/>
            <a:ext cx="4630271" cy="5033505"/>
          </a:xfrm>
          <a:custGeom>
            <a:avLst/>
            <a:gdLst/>
            <a:ahLst/>
            <a:cxnLst/>
            <a:rect r="r" b="b" t="t" l="l"/>
            <a:pathLst>
              <a:path h="5033505" w="4630271">
                <a:moveTo>
                  <a:pt x="0" y="0"/>
                </a:moveTo>
                <a:lnTo>
                  <a:pt x="4630271" y="0"/>
                </a:lnTo>
                <a:lnTo>
                  <a:pt x="4630271" y="5033505"/>
                </a:lnTo>
                <a:lnTo>
                  <a:pt x="0" y="5033505"/>
                </a:lnTo>
                <a:lnTo>
                  <a:pt x="0" y="0"/>
                </a:lnTo>
                <a:close/>
              </a:path>
            </a:pathLst>
          </a:custGeom>
          <a:blipFill>
            <a:blip r:embed="rId2"/>
            <a:stretch>
              <a:fillRect l="-56021" t="-11511" r="-74460" b="0"/>
            </a:stretch>
          </a:blipFill>
        </p:spPr>
      </p:sp>
      <p:sp>
        <p:nvSpPr>
          <p:cNvPr name="Freeform 6" id="6"/>
          <p:cNvSpPr/>
          <p:nvPr/>
        </p:nvSpPr>
        <p:spPr>
          <a:xfrm flipH="false" flipV="false" rot="0">
            <a:off x="0" y="4571939"/>
            <a:ext cx="8400884" cy="6078490"/>
          </a:xfrm>
          <a:custGeom>
            <a:avLst/>
            <a:gdLst/>
            <a:ahLst/>
            <a:cxnLst/>
            <a:rect r="r" b="b" t="t" l="l"/>
            <a:pathLst>
              <a:path h="6078490" w="8400884">
                <a:moveTo>
                  <a:pt x="0" y="0"/>
                </a:moveTo>
                <a:lnTo>
                  <a:pt x="8400884" y="0"/>
                </a:lnTo>
                <a:lnTo>
                  <a:pt x="8400884" y="6078491"/>
                </a:lnTo>
                <a:lnTo>
                  <a:pt x="0" y="6078491"/>
                </a:lnTo>
                <a:lnTo>
                  <a:pt x="0" y="0"/>
                </a:lnTo>
                <a:close/>
              </a:path>
            </a:pathLst>
          </a:custGeom>
          <a:blipFill>
            <a:blip r:embed="rId3"/>
            <a:stretch>
              <a:fillRect l="-28264" t="-14009" r="-27466" b="0"/>
            </a:stretch>
          </a:blipFill>
        </p:spPr>
      </p:sp>
      <p:sp>
        <p:nvSpPr>
          <p:cNvPr name="TextBox 7" id="7"/>
          <p:cNvSpPr txBox="true"/>
          <p:nvPr/>
        </p:nvSpPr>
        <p:spPr>
          <a:xfrm rot="0">
            <a:off x="8400884" y="186877"/>
            <a:ext cx="9573909" cy="1341755"/>
          </a:xfrm>
          <a:prstGeom prst="rect">
            <a:avLst/>
          </a:prstGeom>
        </p:spPr>
        <p:txBody>
          <a:bodyPr anchor="t" rtlCol="false" tIns="0" lIns="0" bIns="0" rIns="0">
            <a:spAutoFit/>
          </a:bodyPr>
          <a:lstStyle/>
          <a:p>
            <a:pPr algn="l" marL="0" indent="0" lvl="0">
              <a:lnSpc>
                <a:spcPts val="5320"/>
              </a:lnSpc>
            </a:pPr>
            <a:r>
              <a:rPr lang="en-US" b="true" sz="3800" spc="190">
                <a:solidFill>
                  <a:srgbClr val="000000"/>
                </a:solidFill>
                <a:latin typeface="Helios Extended Bold"/>
                <a:ea typeface="Helios Extended Bold"/>
                <a:cs typeface="Helios Extended Bold"/>
                <a:sym typeface="Helios Extended Bold"/>
              </a:rPr>
              <a:t>MEDICAL RECORDS SERVICE-DOCTOR</a:t>
            </a:r>
          </a:p>
        </p:txBody>
      </p:sp>
      <p:sp>
        <p:nvSpPr>
          <p:cNvPr name="TextBox 8" id="8"/>
          <p:cNvSpPr txBox="true"/>
          <p:nvPr/>
        </p:nvSpPr>
        <p:spPr>
          <a:xfrm rot="0">
            <a:off x="8759618" y="3107911"/>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Add diagnosis and pres</a:t>
            </a:r>
            <a:r>
              <a:rPr lang="en-US" sz="2100" spc="210">
                <a:solidFill>
                  <a:srgbClr val="000000"/>
                </a:solidFill>
                <a:latin typeface="Lato"/>
                <a:ea typeface="Lato"/>
                <a:cs typeface="Lato"/>
                <a:sym typeface="Lato"/>
              </a:rPr>
              <a:t>cription</a:t>
            </a:r>
            <a:r>
              <a:rPr lang="en-US" sz="2100" spc="210">
                <a:solidFill>
                  <a:srgbClr val="000000"/>
                </a:solidFill>
                <a:latin typeface="Lato"/>
                <a:ea typeface="Lato"/>
                <a:cs typeface="Lato"/>
                <a:sym typeface="Lato"/>
              </a:rPr>
              <a:t>s for patients.</a:t>
            </a:r>
          </a:p>
          <a:p>
            <a:pPr algn="l" marL="453390" indent="-226695" lvl="1">
              <a:lnSpc>
                <a:spcPts val="3360"/>
              </a:lnSpc>
              <a:buFont typeface="Arial"/>
              <a:buChar char="•"/>
            </a:pPr>
            <a:r>
              <a:rPr lang="en-US" sz="2100" spc="210">
                <a:solidFill>
                  <a:srgbClr val="000000"/>
                </a:solidFill>
                <a:latin typeface="Lato"/>
                <a:ea typeface="Lato"/>
                <a:cs typeface="Lato"/>
                <a:sym typeface="Lato"/>
              </a:rPr>
              <a:t>C</a:t>
            </a:r>
            <a:r>
              <a:rPr lang="en-US" sz="2100" spc="210">
                <a:solidFill>
                  <a:srgbClr val="000000"/>
                </a:solidFill>
                <a:latin typeface="Lato"/>
                <a:ea typeface="Lato"/>
                <a:cs typeface="Lato"/>
                <a:sym typeface="Lato"/>
              </a:rPr>
              <a:t>reate and update </a:t>
            </a:r>
            <a:r>
              <a:rPr lang="en-US" sz="2100" spc="210">
                <a:solidFill>
                  <a:srgbClr val="000000"/>
                </a:solidFill>
                <a:latin typeface="Lato"/>
                <a:ea typeface="Lato"/>
                <a:cs typeface="Lato"/>
                <a:sym typeface="Lato"/>
              </a:rPr>
              <a:t>patient medical</a:t>
            </a:r>
            <a:r>
              <a:rPr lang="en-US" sz="2100" spc="210">
                <a:solidFill>
                  <a:srgbClr val="000000"/>
                </a:solidFill>
                <a:latin typeface="Lato"/>
                <a:ea typeface="Lato"/>
                <a:cs typeface="Lato"/>
                <a:sym typeface="Lato"/>
              </a:rPr>
              <a:t> records.</a:t>
            </a:r>
          </a:p>
          <a:p>
            <a:pPr algn="l" marL="453390" indent="-226695" lvl="1">
              <a:lnSpc>
                <a:spcPts val="3360"/>
              </a:lnSpc>
              <a:buFont typeface="Arial"/>
              <a:buChar char="•"/>
            </a:pPr>
            <a:r>
              <a:rPr lang="en-US" sz="2100" spc="210">
                <a:solidFill>
                  <a:srgbClr val="000000"/>
                </a:solidFill>
                <a:latin typeface="Lato"/>
                <a:ea typeface="Lato"/>
                <a:cs typeface="Lato"/>
                <a:sym typeface="Lato"/>
              </a:rPr>
              <a:t>Generate and view medical reports.</a:t>
            </a:r>
          </a:p>
          <a:p>
            <a:pPr algn="l" marL="453390" indent="-226695" lvl="1">
              <a:lnSpc>
                <a:spcPts val="3360"/>
              </a:lnSpc>
              <a:buFont typeface="Arial"/>
              <a:buChar char="•"/>
            </a:pPr>
            <a:r>
              <a:rPr lang="en-US" sz="2100" spc="210">
                <a:solidFill>
                  <a:srgbClr val="000000"/>
                </a:solidFill>
                <a:latin typeface="Lato"/>
                <a:ea typeface="Lato"/>
                <a:cs typeface="Lato"/>
                <a:sym typeface="Lato"/>
              </a:rPr>
              <a:t>Acc</a:t>
            </a:r>
            <a:r>
              <a:rPr lang="en-US" sz="2100" spc="210">
                <a:solidFill>
                  <a:srgbClr val="000000"/>
                </a:solidFill>
                <a:latin typeface="Lato"/>
                <a:ea typeface="Lato"/>
                <a:cs typeface="Lato"/>
                <a:sym typeface="Lato"/>
              </a:rPr>
              <a:t>ess medical data based on assigned role and permissions.</a:t>
            </a:r>
          </a:p>
          <a:p>
            <a:pPr algn="l" marL="0" indent="0" lvl="0">
              <a:lnSpc>
                <a:spcPts val="3360"/>
              </a:lnSpc>
            </a:pPr>
          </a:p>
        </p:txBody>
      </p:sp>
      <p:sp>
        <p:nvSpPr>
          <p:cNvPr name="TextBox 9" id="9"/>
          <p:cNvSpPr txBox="true"/>
          <p:nvPr/>
        </p:nvSpPr>
        <p:spPr>
          <a:xfrm rot="0">
            <a:off x="8759618" y="6765548"/>
            <a:ext cx="8499682" cy="24936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Doctor selects a patient profile.</a:t>
            </a:r>
          </a:p>
          <a:p>
            <a:pPr algn="l" marL="453390" indent="-226695" lvl="1">
              <a:lnSpc>
                <a:spcPts val="3360"/>
              </a:lnSpc>
              <a:buFont typeface="Arial"/>
              <a:buChar char="•"/>
            </a:pPr>
            <a:r>
              <a:rPr lang="en-US" sz="2100" spc="210">
                <a:solidFill>
                  <a:srgbClr val="000000"/>
                </a:solidFill>
                <a:latin typeface="Lato"/>
                <a:ea typeface="Lato"/>
                <a:cs typeface="Lato"/>
                <a:sym typeface="Lato"/>
              </a:rPr>
              <a:t>Add</a:t>
            </a:r>
            <a:r>
              <a:rPr lang="en-US" sz="2100" spc="210">
                <a:solidFill>
                  <a:srgbClr val="000000"/>
                </a:solidFill>
                <a:latin typeface="Lato"/>
                <a:ea typeface="Lato"/>
                <a:cs typeface="Lato"/>
                <a:sym typeface="Lato"/>
              </a:rPr>
              <a:t>s diagnosis and pre</a:t>
            </a:r>
            <a:r>
              <a:rPr lang="en-US" sz="2100" spc="210">
                <a:solidFill>
                  <a:srgbClr val="000000"/>
                </a:solidFill>
                <a:latin typeface="Lato"/>
                <a:ea typeface="Lato"/>
                <a:cs typeface="Lato"/>
                <a:sym typeface="Lato"/>
              </a:rPr>
              <a:t>script</a:t>
            </a:r>
            <a:r>
              <a:rPr lang="en-US" sz="2100" spc="210">
                <a:solidFill>
                  <a:srgbClr val="000000"/>
                </a:solidFill>
                <a:latin typeface="Lato"/>
                <a:ea typeface="Lato"/>
                <a:cs typeface="Lato"/>
                <a:sym typeface="Lato"/>
              </a:rPr>
              <a:t>ion details.</a:t>
            </a:r>
          </a:p>
          <a:p>
            <a:pPr algn="l" marL="453390" indent="-226695" lvl="1">
              <a:lnSpc>
                <a:spcPts val="3360"/>
              </a:lnSpc>
              <a:buFont typeface="Arial"/>
              <a:buChar char="•"/>
            </a:pPr>
            <a:r>
              <a:rPr lang="en-US" sz="2100" spc="210">
                <a:solidFill>
                  <a:srgbClr val="000000"/>
                </a:solidFill>
                <a:latin typeface="Lato"/>
                <a:ea typeface="Lato"/>
                <a:cs typeface="Lato"/>
                <a:sym typeface="Lato"/>
              </a:rPr>
              <a:t>Medic</a:t>
            </a:r>
            <a:r>
              <a:rPr lang="en-US" sz="2100" spc="210">
                <a:solidFill>
                  <a:srgbClr val="000000"/>
                </a:solidFill>
                <a:latin typeface="Lato"/>
                <a:ea typeface="Lato"/>
                <a:cs typeface="Lato"/>
                <a:sym typeface="Lato"/>
              </a:rPr>
              <a:t>al records are securely stored and linked to the patient.</a:t>
            </a:r>
          </a:p>
          <a:p>
            <a:pPr algn="l" marL="453390" indent="-226695" lvl="1">
              <a:lnSpc>
                <a:spcPts val="3360"/>
              </a:lnSpc>
              <a:buFont typeface="Arial"/>
              <a:buChar char="•"/>
            </a:pPr>
            <a:r>
              <a:rPr lang="en-US" sz="2100" spc="210">
                <a:solidFill>
                  <a:srgbClr val="000000"/>
                </a:solidFill>
                <a:latin typeface="Lato"/>
                <a:ea typeface="Lato"/>
                <a:cs typeface="Lato"/>
                <a:sym typeface="Lato"/>
              </a:rPr>
              <a:t>Do</a:t>
            </a:r>
            <a:r>
              <a:rPr lang="en-US" sz="2100" spc="210">
                <a:solidFill>
                  <a:srgbClr val="000000"/>
                </a:solidFill>
                <a:latin typeface="Lato"/>
                <a:ea typeface="Lato"/>
                <a:cs typeface="Lato"/>
                <a:sym typeface="Lato"/>
              </a:rPr>
              <a:t>ctor generates medical reports for review or analysis.</a:t>
            </a:r>
          </a:p>
          <a:p>
            <a:pPr algn="l" marL="0" indent="0" lvl="0">
              <a:lnSpc>
                <a:spcPts val="3360"/>
              </a:lnSpc>
            </a:pPr>
          </a:p>
        </p:txBody>
      </p:sp>
      <p:sp>
        <p:nvSpPr>
          <p:cNvPr name="TextBox 10" id="10"/>
          <p:cNvSpPr txBox="true"/>
          <p:nvPr/>
        </p:nvSpPr>
        <p:spPr>
          <a:xfrm rot="0">
            <a:off x="8759618" y="2644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1" id="11"/>
          <p:cNvSpPr txBox="true"/>
          <p:nvPr/>
        </p:nvSpPr>
        <p:spPr>
          <a:xfrm rot="0">
            <a:off x="8759618" y="6301964"/>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317064" y="714864"/>
            <a:ext cx="9461064" cy="4309776"/>
          </a:xfrm>
          <a:custGeom>
            <a:avLst/>
            <a:gdLst/>
            <a:ahLst/>
            <a:cxnLst/>
            <a:rect r="r" b="b" t="t" l="l"/>
            <a:pathLst>
              <a:path h="4309776" w="9461064">
                <a:moveTo>
                  <a:pt x="0" y="0"/>
                </a:moveTo>
                <a:lnTo>
                  <a:pt x="9461064" y="0"/>
                </a:lnTo>
                <a:lnTo>
                  <a:pt x="9461064" y="4309776"/>
                </a:lnTo>
                <a:lnTo>
                  <a:pt x="0" y="4309776"/>
                </a:lnTo>
                <a:lnTo>
                  <a:pt x="0" y="0"/>
                </a:lnTo>
                <a:close/>
              </a:path>
            </a:pathLst>
          </a:custGeom>
          <a:blipFill>
            <a:blip r:embed="rId2"/>
            <a:stretch>
              <a:fillRect l="0" t="-13538" r="0" b="0"/>
            </a:stretch>
          </a:blipFill>
        </p:spPr>
      </p:sp>
      <p:sp>
        <p:nvSpPr>
          <p:cNvPr name="Freeform 6" id="6"/>
          <p:cNvSpPr/>
          <p:nvPr/>
        </p:nvSpPr>
        <p:spPr>
          <a:xfrm flipH="false" flipV="false" rot="0">
            <a:off x="-317064" y="4209602"/>
            <a:ext cx="10631075" cy="4876219"/>
          </a:xfrm>
          <a:custGeom>
            <a:avLst/>
            <a:gdLst/>
            <a:ahLst/>
            <a:cxnLst/>
            <a:rect r="r" b="b" t="t" l="l"/>
            <a:pathLst>
              <a:path h="4876219" w="10631075">
                <a:moveTo>
                  <a:pt x="0" y="0"/>
                </a:moveTo>
                <a:lnTo>
                  <a:pt x="10631075" y="0"/>
                </a:lnTo>
                <a:lnTo>
                  <a:pt x="10631075" y="4876219"/>
                </a:lnTo>
                <a:lnTo>
                  <a:pt x="0" y="4876219"/>
                </a:lnTo>
                <a:lnTo>
                  <a:pt x="0" y="0"/>
                </a:lnTo>
                <a:close/>
              </a:path>
            </a:pathLst>
          </a:custGeom>
          <a:blipFill>
            <a:blip r:embed="rId3"/>
            <a:stretch>
              <a:fillRect l="0" t="-12895" r="0" b="0"/>
            </a:stretch>
          </a:blipFill>
        </p:spPr>
      </p:sp>
      <p:sp>
        <p:nvSpPr>
          <p:cNvPr name="TextBox 7" id="7"/>
          <p:cNvSpPr txBox="true"/>
          <p:nvPr/>
        </p:nvSpPr>
        <p:spPr>
          <a:xfrm rot="0">
            <a:off x="8400884" y="186877"/>
            <a:ext cx="9573909" cy="1341755"/>
          </a:xfrm>
          <a:prstGeom prst="rect">
            <a:avLst/>
          </a:prstGeom>
        </p:spPr>
        <p:txBody>
          <a:bodyPr anchor="t" rtlCol="false" tIns="0" lIns="0" bIns="0" rIns="0">
            <a:spAutoFit/>
          </a:bodyPr>
          <a:lstStyle/>
          <a:p>
            <a:pPr algn="l" marL="0" indent="0" lvl="0">
              <a:lnSpc>
                <a:spcPts val="5320"/>
              </a:lnSpc>
            </a:pPr>
            <a:r>
              <a:rPr lang="en-US" b="true" sz="3800" spc="190">
                <a:solidFill>
                  <a:srgbClr val="000000"/>
                </a:solidFill>
                <a:latin typeface="Helios Extended Bold"/>
                <a:ea typeface="Helios Extended Bold"/>
                <a:cs typeface="Helios Extended Bold"/>
                <a:sym typeface="Helios Extended Bold"/>
              </a:rPr>
              <a:t>MEDICAL RECORDS SERVICE-PATIENT</a:t>
            </a:r>
          </a:p>
        </p:txBody>
      </p:sp>
      <p:sp>
        <p:nvSpPr>
          <p:cNvPr name="TextBox 8" id="8"/>
          <p:cNvSpPr txBox="true"/>
          <p:nvPr/>
        </p:nvSpPr>
        <p:spPr>
          <a:xfrm rot="0">
            <a:off x="9144000" y="3063763"/>
            <a:ext cx="8499682" cy="16554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View personal medical history and re</a:t>
            </a:r>
            <a:r>
              <a:rPr lang="en-US" sz="2100" spc="210">
                <a:solidFill>
                  <a:srgbClr val="000000"/>
                </a:solidFill>
                <a:latin typeface="Lato"/>
                <a:ea typeface="Lato"/>
                <a:cs typeface="Lato"/>
                <a:sym typeface="Lato"/>
              </a:rPr>
              <a:t>c</a:t>
            </a:r>
            <a:r>
              <a:rPr lang="en-US" sz="2100" spc="210">
                <a:solidFill>
                  <a:srgbClr val="000000"/>
                </a:solidFill>
                <a:latin typeface="Lato"/>
                <a:ea typeface="Lato"/>
                <a:cs typeface="Lato"/>
                <a:sym typeface="Lato"/>
              </a:rPr>
              <a:t>ords.</a:t>
            </a:r>
          </a:p>
          <a:p>
            <a:pPr algn="l" marL="453390" indent="-226695" lvl="1">
              <a:lnSpc>
                <a:spcPts val="3360"/>
              </a:lnSpc>
              <a:buFont typeface="Arial"/>
              <a:buChar char="•"/>
            </a:pPr>
            <a:r>
              <a:rPr lang="en-US" sz="2100" spc="210">
                <a:solidFill>
                  <a:srgbClr val="000000"/>
                </a:solidFill>
                <a:latin typeface="Lato"/>
                <a:ea typeface="Lato"/>
                <a:cs typeface="Lato"/>
                <a:sym typeface="Lato"/>
              </a:rPr>
              <a:t>Acc</a:t>
            </a:r>
            <a:r>
              <a:rPr lang="en-US" sz="2100" spc="210">
                <a:solidFill>
                  <a:srgbClr val="000000"/>
                </a:solidFill>
                <a:latin typeface="Lato"/>
                <a:ea typeface="Lato"/>
                <a:cs typeface="Lato"/>
                <a:sym typeface="Lato"/>
              </a:rPr>
              <a:t>ess diagnosis, prescri</a:t>
            </a:r>
            <a:r>
              <a:rPr lang="en-US" sz="2100" spc="210">
                <a:solidFill>
                  <a:srgbClr val="000000"/>
                </a:solidFill>
                <a:latin typeface="Lato"/>
                <a:ea typeface="Lato"/>
                <a:cs typeface="Lato"/>
                <a:sym typeface="Lato"/>
              </a:rPr>
              <a:t>ptions, and</a:t>
            </a:r>
            <a:r>
              <a:rPr lang="en-US" sz="2100" spc="210">
                <a:solidFill>
                  <a:srgbClr val="000000"/>
                </a:solidFill>
                <a:latin typeface="Lato"/>
                <a:ea typeface="Lato"/>
                <a:cs typeface="Lato"/>
                <a:sym typeface="Lato"/>
              </a:rPr>
              <a:t> reports.</a:t>
            </a:r>
          </a:p>
          <a:p>
            <a:pPr algn="l" marL="453390" indent="-226695" lvl="1">
              <a:lnSpc>
                <a:spcPts val="3360"/>
              </a:lnSpc>
              <a:buFont typeface="Arial"/>
              <a:buChar char="•"/>
            </a:pPr>
            <a:r>
              <a:rPr lang="en-US" sz="2100" spc="210">
                <a:solidFill>
                  <a:srgbClr val="000000"/>
                </a:solidFill>
                <a:latin typeface="Lato"/>
                <a:ea typeface="Lato"/>
                <a:cs typeface="Lato"/>
                <a:sym typeface="Lato"/>
              </a:rPr>
              <a:t>Ensur</a:t>
            </a:r>
            <a:r>
              <a:rPr lang="en-US" sz="2100" spc="210">
                <a:solidFill>
                  <a:srgbClr val="000000"/>
                </a:solidFill>
                <a:latin typeface="Lato"/>
                <a:ea typeface="Lato"/>
                <a:cs typeface="Lato"/>
                <a:sym typeface="Lato"/>
              </a:rPr>
              <a:t>e secure and read-only a</a:t>
            </a:r>
            <a:r>
              <a:rPr lang="en-US" sz="2100" spc="210">
                <a:solidFill>
                  <a:srgbClr val="000000"/>
                </a:solidFill>
                <a:latin typeface="Lato"/>
                <a:ea typeface="Lato"/>
                <a:cs typeface="Lato"/>
                <a:sym typeface="Lato"/>
              </a:rPr>
              <a:t>cc</a:t>
            </a:r>
            <a:r>
              <a:rPr lang="en-US" sz="2100" spc="210">
                <a:solidFill>
                  <a:srgbClr val="000000"/>
                </a:solidFill>
                <a:latin typeface="Lato"/>
                <a:ea typeface="Lato"/>
                <a:cs typeface="Lato"/>
                <a:sym typeface="Lato"/>
              </a:rPr>
              <a:t>ess to medical data.</a:t>
            </a:r>
          </a:p>
          <a:p>
            <a:pPr algn="l" marL="0" indent="0" lvl="0">
              <a:lnSpc>
                <a:spcPts val="3360"/>
              </a:lnSpc>
            </a:pPr>
          </a:p>
        </p:txBody>
      </p:sp>
      <p:sp>
        <p:nvSpPr>
          <p:cNvPr name="TextBox 9" id="9"/>
          <p:cNvSpPr txBox="true"/>
          <p:nvPr/>
        </p:nvSpPr>
        <p:spPr>
          <a:xfrm rot="0">
            <a:off x="9144000" y="6722633"/>
            <a:ext cx="8499682" cy="16554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Patient logs into the system.</a:t>
            </a:r>
          </a:p>
          <a:p>
            <a:pPr algn="l" marL="453390" indent="-226695" lvl="1">
              <a:lnSpc>
                <a:spcPts val="3360"/>
              </a:lnSpc>
              <a:buFont typeface="Arial"/>
              <a:buChar char="•"/>
            </a:pPr>
            <a:r>
              <a:rPr lang="en-US" sz="2100" spc="210">
                <a:solidFill>
                  <a:srgbClr val="000000"/>
                </a:solidFill>
                <a:latin typeface="Lato"/>
                <a:ea typeface="Lato"/>
                <a:cs typeface="Lato"/>
                <a:sym typeface="Lato"/>
              </a:rPr>
              <a:t>Accesse</a:t>
            </a:r>
            <a:r>
              <a:rPr lang="en-US" sz="2100" spc="210">
                <a:solidFill>
                  <a:srgbClr val="000000"/>
                </a:solidFill>
                <a:latin typeface="Lato"/>
                <a:ea typeface="Lato"/>
                <a:cs typeface="Lato"/>
                <a:sym typeface="Lato"/>
              </a:rPr>
              <a:t>s medical history and re</a:t>
            </a:r>
            <a:r>
              <a:rPr lang="en-US" sz="2100" spc="210">
                <a:solidFill>
                  <a:srgbClr val="000000"/>
                </a:solidFill>
                <a:latin typeface="Lato"/>
                <a:ea typeface="Lato"/>
                <a:cs typeface="Lato"/>
                <a:sym typeface="Lato"/>
              </a:rPr>
              <a:t>p</a:t>
            </a:r>
            <a:r>
              <a:rPr lang="en-US" sz="2100" spc="210">
                <a:solidFill>
                  <a:srgbClr val="000000"/>
                </a:solidFill>
                <a:latin typeface="Lato"/>
                <a:ea typeface="Lato"/>
                <a:cs typeface="Lato"/>
                <a:sym typeface="Lato"/>
              </a:rPr>
              <a:t>orts.</a:t>
            </a:r>
          </a:p>
          <a:p>
            <a:pPr algn="l" marL="453390" indent="-226695" lvl="1">
              <a:lnSpc>
                <a:spcPts val="3360"/>
              </a:lnSpc>
              <a:buFont typeface="Arial"/>
              <a:buChar char="•"/>
            </a:pPr>
            <a:r>
              <a:rPr lang="en-US" sz="2100" spc="210">
                <a:solidFill>
                  <a:srgbClr val="000000"/>
                </a:solidFill>
                <a:latin typeface="Lato"/>
                <a:ea typeface="Lato"/>
                <a:cs typeface="Lato"/>
                <a:sym typeface="Lato"/>
              </a:rPr>
              <a:t>Data is</a:t>
            </a:r>
            <a:r>
              <a:rPr lang="en-US" sz="2100" spc="210">
                <a:solidFill>
                  <a:srgbClr val="000000"/>
                </a:solidFill>
                <a:latin typeface="Lato"/>
                <a:ea typeface="Lato"/>
                <a:cs typeface="Lato"/>
                <a:sym typeface="Lato"/>
              </a:rPr>
              <a:t> displayed securely based on role permissions.</a:t>
            </a:r>
          </a:p>
          <a:p>
            <a:pPr algn="l" marL="0" indent="0" lvl="0">
              <a:lnSpc>
                <a:spcPts val="3360"/>
              </a:lnSpc>
            </a:pPr>
          </a:p>
        </p:txBody>
      </p:sp>
      <p:sp>
        <p:nvSpPr>
          <p:cNvPr name="TextBox 10" id="10"/>
          <p:cNvSpPr txBox="true"/>
          <p:nvPr/>
        </p:nvSpPr>
        <p:spPr>
          <a:xfrm rot="0">
            <a:off x="9144000" y="2644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1" id="11"/>
          <p:cNvSpPr txBox="true"/>
          <p:nvPr/>
        </p:nvSpPr>
        <p:spPr>
          <a:xfrm rot="0">
            <a:off x="9144000" y="6300358"/>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74512" y="3835688"/>
            <a:ext cx="9788889" cy="4585305"/>
          </a:xfrm>
          <a:custGeom>
            <a:avLst/>
            <a:gdLst/>
            <a:ahLst/>
            <a:cxnLst/>
            <a:rect r="r" b="b" t="t" l="l"/>
            <a:pathLst>
              <a:path h="4585305" w="9788889">
                <a:moveTo>
                  <a:pt x="0" y="0"/>
                </a:moveTo>
                <a:lnTo>
                  <a:pt x="9788889" y="0"/>
                </a:lnTo>
                <a:lnTo>
                  <a:pt x="9788889" y="4585305"/>
                </a:lnTo>
                <a:lnTo>
                  <a:pt x="0" y="4585305"/>
                </a:lnTo>
                <a:lnTo>
                  <a:pt x="0" y="0"/>
                </a:lnTo>
                <a:close/>
              </a:path>
            </a:pathLst>
          </a:custGeom>
          <a:blipFill>
            <a:blip r:embed="rId2"/>
            <a:stretch>
              <a:fillRect l="0" t="-12219" r="0" b="0"/>
            </a:stretch>
          </a:blipFill>
        </p:spPr>
      </p:sp>
      <p:sp>
        <p:nvSpPr>
          <p:cNvPr name="TextBox 6" id="6"/>
          <p:cNvSpPr txBox="true"/>
          <p:nvPr/>
        </p:nvSpPr>
        <p:spPr>
          <a:xfrm rot="0">
            <a:off x="8400884" y="186877"/>
            <a:ext cx="9573909" cy="1341755"/>
          </a:xfrm>
          <a:prstGeom prst="rect">
            <a:avLst/>
          </a:prstGeom>
        </p:spPr>
        <p:txBody>
          <a:bodyPr anchor="t" rtlCol="false" tIns="0" lIns="0" bIns="0" rIns="0">
            <a:spAutoFit/>
          </a:bodyPr>
          <a:lstStyle/>
          <a:p>
            <a:pPr algn="l" marL="0" indent="0" lvl="0">
              <a:lnSpc>
                <a:spcPts val="5320"/>
              </a:lnSpc>
            </a:pPr>
            <a:r>
              <a:rPr lang="en-US" b="true" sz="3800" spc="190">
                <a:solidFill>
                  <a:srgbClr val="000000"/>
                </a:solidFill>
                <a:latin typeface="Helios Extended Bold"/>
                <a:ea typeface="Helios Extended Bold"/>
                <a:cs typeface="Helios Extended Bold"/>
                <a:sym typeface="Helios Extended Bold"/>
              </a:rPr>
              <a:t>MEDICAL RECORDS SERVICE-ADMIN</a:t>
            </a:r>
          </a:p>
        </p:txBody>
      </p:sp>
      <p:sp>
        <p:nvSpPr>
          <p:cNvPr name="TextBox 7" id="7"/>
          <p:cNvSpPr txBox="true"/>
          <p:nvPr/>
        </p:nvSpPr>
        <p:spPr>
          <a:xfrm rot="0">
            <a:off x="8759618" y="3107911"/>
            <a:ext cx="8499682" cy="16554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Monitor medical re</a:t>
            </a:r>
            <a:r>
              <a:rPr lang="en-US" sz="2100" spc="210">
                <a:solidFill>
                  <a:srgbClr val="000000"/>
                </a:solidFill>
                <a:latin typeface="Lato"/>
                <a:ea typeface="Lato"/>
                <a:cs typeface="Lato"/>
                <a:sym typeface="Lato"/>
              </a:rPr>
              <a:t>c</a:t>
            </a:r>
            <a:r>
              <a:rPr lang="en-US" sz="2100" spc="210">
                <a:solidFill>
                  <a:srgbClr val="000000"/>
                </a:solidFill>
                <a:latin typeface="Lato"/>
                <a:ea typeface="Lato"/>
                <a:cs typeface="Lato"/>
                <a:sym typeface="Lato"/>
              </a:rPr>
              <a:t>ord activi</a:t>
            </a:r>
            <a:r>
              <a:rPr lang="en-US" sz="2100" spc="210">
                <a:solidFill>
                  <a:srgbClr val="000000"/>
                </a:solidFill>
                <a:latin typeface="Lato"/>
                <a:ea typeface="Lato"/>
                <a:cs typeface="Lato"/>
                <a:sym typeface="Lato"/>
              </a:rPr>
              <a:t>ti</a:t>
            </a:r>
            <a:r>
              <a:rPr lang="en-US" sz="2100" spc="210">
                <a:solidFill>
                  <a:srgbClr val="000000"/>
                </a:solidFill>
                <a:latin typeface="Lato"/>
                <a:ea typeface="Lato"/>
                <a:cs typeface="Lato"/>
                <a:sym typeface="Lato"/>
              </a:rPr>
              <a:t>es.</a:t>
            </a:r>
          </a:p>
          <a:p>
            <a:pPr algn="l" marL="453390" indent="-226695" lvl="1">
              <a:lnSpc>
                <a:spcPts val="3360"/>
              </a:lnSpc>
              <a:buFont typeface="Arial"/>
              <a:buChar char="•"/>
            </a:pPr>
            <a:r>
              <a:rPr lang="en-US" sz="2100" spc="210">
                <a:solidFill>
                  <a:srgbClr val="000000"/>
                </a:solidFill>
                <a:latin typeface="Lato"/>
                <a:ea typeface="Lato"/>
                <a:cs typeface="Lato"/>
                <a:sym typeface="Lato"/>
              </a:rPr>
              <a:t>Ensur</a:t>
            </a:r>
            <a:r>
              <a:rPr lang="en-US" sz="2100" spc="210">
                <a:solidFill>
                  <a:srgbClr val="000000"/>
                </a:solidFill>
                <a:latin typeface="Lato"/>
                <a:ea typeface="Lato"/>
                <a:cs typeface="Lato"/>
                <a:sym typeface="Lato"/>
              </a:rPr>
              <a:t>e secure access and compliance.</a:t>
            </a:r>
          </a:p>
          <a:p>
            <a:pPr algn="l" marL="453390" indent="-226695" lvl="1">
              <a:lnSpc>
                <a:spcPts val="3360"/>
              </a:lnSpc>
              <a:buFont typeface="Arial"/>
              <a:buChar char="•"/>
            </a:pPr>
            <a:r>
              <a:rPr lang="en-US" sz="2100" spc="210">
                <a:solidFill>
                  <a:srgbClr val="000000"/>
                </a:solidFill>
                <a:latin typeface="Lato"/>
                <a:ea typeface="Lato"/>
                <a:cs typeface="Lato"/>
                <a:sym typeface="Lato"/>
              </a:rPr>
              <a:t>Manage role-based permissions.</a:t>
            </a:r>
          </a:p>
          <a:p>
            <a:pPr algn="l" marL="0" indent="0" lvl="0">
              <a:lnSpc>
                <a:spcPts val="3360"/>
              </a:lnSpc>
            </a:pPr>
          </a:p>
        </p:txBody>
      </p:sp>
      <p:sp>
        <p:nvSpPr>
          <p:cNvPr name="TextBox 8" id="8"/>
          <p:cNvSpPr txBox="true"/>
          <p:nvPr/>
        </p:nvSpPr>
        <p:spPr>
          <a:xfrm rot="0">
            <a:off x="8759618" y="6765548"/>
            <a:ext cx="8499682" cy="16554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210">
                <a:solidFill>
                  <a:srgbClr val="000000"/>
                </a:solidFill>
                <a:latin typeface="Lato"/>
                <a:ea typeface="Lato"/>
                <a:cs typeface="Lato"/>
                <a:sym typeface="Lato"/>
              </a:rPr>
              <a:t>Admin overse</a:t>
            </a:r>
            <a:r>
              <a:rPr lang="en-US" sz="2100" spc="210">
                <a:solidFill>
                  <a:srgbClr val="000000"/>
                </a:solidFill>
                <a:latin typeface="Lato"/>
                <a:ea typeface="Lato"/>
                <a:cs typeface="Lato"/>
                <a:sym typeface="Lato"/>
              </a:rPr>
              <a:t>e</a:t>
            </a:r>
            <a:r>
              <a:rPr lang="en-US" sz="2100" spc="210">
                <a:solidFill>
                  <a:srgbClr val="000000"/>
                </a:solidFill>
                <a:latin typeface="Lato"/>
                <a:ea typeface="Lato"/>
                <a:cs typeface="Lato"/>
                <a:sym typeface="Lato"/>
              </a:rPr>
              <a:t>s medical data usage.</a:t>
            </a:r>
          </a:p>
          <a:p>
            <a:pPr algn="l" marL="453390" indent="-226695" lvl="1">
              <a:lnSpc>
                <a:spcPts val="3360"/>
              </a:lnSpc>
              <a:buFont typeface="Arial"/>
              <a:buChar char="•"/>
            </a:pPr>
            <a:r>
              <a:rPr lang="en-US" sz="2100" spc="210">
                <a:solidFill>
                  <a:srgbClr val="000000"/>
                </a:solidFill>
                <a:latin typeface="Lato"/>
                <a:ea typeface="Lato"/>
                <a:cs typeface="Lato"/>
                <a:sym typeface="Lato"/>
              </a:rPr>
              <a:t>Ensures role-based </a:t>
            </a:r>
            <a:r>
              <a:rPr lang="en-US" sz="2100" spc="210">
                <a:solidFill>
                  <a:srgbClr val="000000"/>
                </a:solidFill>
                <a:latin typeface="Lato"/>
                <a:ea typeface="Lato"/>
                <a:cs typeface="Lato"/>
                <a:sym typeface="Lato"/>
              </a:rPr>
              <a:t>access control is</a:t>
            </a:r>
            <a:r>
              <a:rPr lang="en-US" sz="2100" spc="210">
                <a:solidFill>
                  <a:srgbClr val="000000"/>
                </a:solidFill>
                <a:latin typeface="Lato"/>
                <a:ea typeface="Lato"/>
                <a:cs typeface="Lato"/>
                <a:sym typeface="Lato"/>
              </a:rPr>
              <a:t> enforced.</a:t>
            </a:r>
          </a:p>
          <a:p>
            <a:pPr algn="l" marL="453390" indent="-226695" lvl="1">
              <a:lnSpc>
                <a:spcPts val="3360"/>
              </a:lnSpc>
              <a:buFont typeface="Arial"/>
              <a:buChar char="•"/>
            </a:pPr>
            <a:r>
              <a:rPr lang="en-US" sz="2100" spc="210">
                <a:solidFill>
                  <a:srgbClr val="000000"/>
                </a:solidFill>
                <a:latin typeface="Lato"/>
                <a:ea typeface="Lato"/>
                <a:cs typeface="Lato"/>
                <a:sym typeface="Lato"/>
              </a:rPr>
              <a:t>Monitors system activity for security and compliance.</a:t>
            </a:r>
          </a:p>
          <a:p>
            <a:pPr algn="l" marL="0" indent="0" lvl="0">
              <a:lnSpc>
                <a:spcPts val="3360"/>
              </a:lnSpc>
            </a:pPr>
          </a:p>
        </p:txBody>
      </p:sp>
      <p:sp>
        <p:nvSpPr>
          <p:cNvPr name="TextBox 9" id="9"/>
          <p:cNvSpPr txBox="true"/>
          <p:nvPr/>
        </p:nvSpPr>
        <p:spPr>
          <a:xfrm rot="0">
            <a:off x="8759618" y="2644327"/>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FUNCTIONALITIES</a:t>
            </a:r>
          </a:p>
        </p:txBody>
      </p:sp>
      <p:sp>
        <p:nvSpPr>
          <p:cNvPr name="TextBox 10" id="10"/>
          <p:cNvSpPr txBox="true"/>
          <p:nvPr/>
        </p:nvSpPr>
        <p:spPr>
          <a:xfrm rot="0">
            <a:off x="8759618" y="6301964"/>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4E6E81"/>
                </a:solidFill>
                <a:latin typeface="Heebo Bold"/>
                <a:ea typeface="Heebo Bold"/>
                <a:cs typeface="Heebo Bold"/>
                <a:sym typeface="Heebo Bold"/>
              </a:rPr>
              <a:t>WORKFLOW</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33462" y="0"/>
            <a:ext cx="0" cy="3768928"/>
          </a:xfrm>
          <a:prstGeom prst="line">
            <a:avLst/>
          </a:prstGeom>
          <a:ln cap="flat" w="57150">
            <a:solidFill>
              <a:srgbClr val="4E6E81"/>
            </a:solidFill>
            <a:prstDash val="sysDash"/>
            <a:headEnd type="none" len="sm" w="sm"/>
            <a:tailEnd type="none" len="sm" w="sm"/>
          </a:ln>
        </p:spPr>
      </p:sp>
      <p:grpSp>
        <p:nvGrpSpPr>
          <p:cNvPr name="Group 3" id="3"/>
          <p:cNvGrpSpPr/>
          <p:nvPr/>
        </p:nvGrpSpPr>
        <p:grpSpPr>
          <a:xfrm rot="0">
            <a:off x="8001007" y="0"/>
            <a:ext cx="10286993" cy="10287000"/>
            <a:chOff x="0" y="0"/>
            <a:chExt cx="2709331" cy="2709333"/>
          </a:xfrm>
        </p:grpSpPr>
        <p:sp>
          <p:nvSpPr>
            <p:cNvPr name="Freeform 4" id="4"/>
            <p:cNvSpPr/>
            <p:nvPr/>
          </p:nvSpPr>
          <p:spPr>
            <a:xfrm flipH="false" flipV="false" rot="0">
              <a:off x="0" y="0"/>
              <a:ext cx="2709331" cy="2709333"/>
            </a:xfrm>
            <a:custGeom>
              <a:avLst/>
              <a:gdLst/>
              <a:ahLst/>
              <a:cxnLst/>
              <a:rect r="r" b="b" t="t" l="l"/>
              <a:pathLst>
                <a:path h="2709333" w="2709331">
                  <a:moveTo>
                    <a:pt x="0" y="0"/>
                  </a:moveTo>
                  <a:lnTo>
                    <a:pt x="2709331" y="0"/>
                  </a:lnTo>
                  <a:lnTo>
                    <a:pt x="2709331" y="2709333"/>
                  </a:lnTo>
                  <a:lnTo>
                    <a:pt x="0" y="2709333"/>
                  </a:lnTo>
                  <a:close/>
                </a:path>
              </a:pathLst>
            </a:custGeom>
            <a:solidFill>
              <a:srgbClr val="F2F1F1">
                <a:alpha val="80000"/>
              </a:srgbClr>
            </a:solidFill>
          </p:spPr>
        </p:sp>
        <p:sp>
          <p:nvSpPr>
            <p:cNvPr name="TextBox 5" id="5"/>
            <p:cNvSpPr txBox="true"/>
            <p:nvPr/>
          </p:nvSpPr>
          <p:spPr>
            <a:xfrm>
              <a:off x="0" y="-47625"/>
              <a:ext cx="2709331" cy="2756958"/>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432493" y="4031352"/>
            <a:ext cx="7568514" cy="1403350"/>
          </a:xfrm>
          <a:prstGeom prst="rect">
            <a:avLst/>
          </a:prstGeom>
        </p:spPr>
        <p:txBody>
          <a:bodyPr anchor="t" rtlCol="false" tIns="0" lIns="0" bIns="0" rIns="0">
            <a:spAutoFit/>
          </a:bodyPr>
          <a:lstStyle/>
          <a:p>
            <a:pPr algn="l">
              <a:lnSpc>
                <a:spcPts val="5599"/>
              </a:lnSpc>
            </a:pPr>
            <a:r>
              <a:rPr lang="en-US" b="true" sz="3999" spc="199">
                <a:solidFill>
                  <a:srgbClr val="000000"/>
                </a:solidFill>
                <a:latin typeface="Helios Extended Bold"/>
                <a:ea typeface="Helios Extended Bold"/>
                <a:cs typeface="Helios Extended Bold"/>
                <a:sym typeface="Helios Extended Bold"/>
              </a:rPr>
              <a:t>FUTURE EXTENSIONS</a:t>
            </a:r>
          </a:p>
          <a:p>
            <a:pPr algn="l" marL="0" indent="0" lvl="0">
              <a:lnSpc>
                <a:spcPts val="5599"/>
              </a:lnSpc>
            </a:pPr>
          </a:p>
        </p:txBody>
      </p:sp>
      <p:sp>
        <p:nvSpPr>
          <p:cNvPr name="TextBox 7" id="7"/>
          <p:cNvSpPr txBox="true"/>
          <p:nvPr/>
        </p:nvSpPr>
        <p:spPr>
          <a:xfrm rot="0">
            <a:off x="8210557" y="-95250"/>
            <a:ext cx="10046333" cy="11179810"/>
          </a:xfrm>
          <a:prstGeom prst="rect">
            <a:avLst/>
          </a:prstGeom>
        </p:spPr>
        <p:txBody>
          <a:bodyPr anchor="t" rtlCol="false" tIns="0" lIns="0" bIns="0" rIns="0">
            <a:spAutoFit/>
          </a:bodyPr>
          <a:lstStyle/>
          <a:p>
            <a:pPr algn="just">
              <a:lnSpc>
                <a:spcPts val="3679"/>
              </a:lnSpc>
            </a:pPr>
            <a:r>
              <a:rPr lang="en-US" b="true" sz="2299" spc="229">
                <a:solidFill>
                  <a:srgbClr val="000000"/>
                </a:solidFill>
                <a:latin typeface="Lato Bold"/>
                <a:ea typeface="Lato Bold"/>
                <a:cs typeface="Lato Bold"/>
                <a:sym typeface="Lato Bold"/>
              </a:rPr>
              <a:t>Video Consultations:-</a:t>
            </a:r>
          </a:p>
          <a:p>
            <a:pPr algn="just">
              <a:lnSpc>
                <a:spcPts val="3679"/>
              </a:lnSpc>
            </a:pPr>
            <a:r>
              <a:rPr lang="en-US" sz="2299" spc="229">
                <a:solidFill>
                  <a:srgbClr val="000000"/>
                </a:solidFill>
                <a:latin typeface="Lato"/>
                <a:ea typeface="Lato"/>
                <a:cs typeface="Lato"/>
                <a:sym typeface="Lato"/>
              </a:rPr>
              <a:t>En</a:t>
            </a:r>
            <a:r>
              <a:rPr lang="en-US" sz="2299" spc="229">
                <a:solidFill>
                  <a:srgbClr val="000000"/>
                </a:solidFill>
                <a:latin typeface="Lato"/>
                <a:ea typeface="Lato"/>
                <a:cs typeface="Lato"/>
                <a:sym typeface="Lato"/>
              </a:rPr>
              <a:t>able doctors and patients to have real-time virtual consultations.</a:t>
            </a:r>
          </a:p>
          <a:p>
            <a:pPr algn="just">
              <a:lnSpc>
                <a:spcPts val="3679"/>
              </a:lnSpc>
            </a:pPr>
            <a:r>
              <a:rPr lang="en-US" sz="2299" spc="229">
                <a:solidFill>
                  <a:srgbClr val="000000"/>
                </a:solidFill>
                <a:latin typeface="Lato"/>
                <a:ea typeface="Lato"/>
                <a:cs typeface="Lato"/>
                <a:sym typeface="Lato"/>
              </a:rPr>
              <a:t>Integration with scheduling and medical records for seamless workflow.</a:t>
            </a:r>
          </a:p>
          <a:p>
            <a:pPr algn="just">
              <a:lnSpc>
                <a:spcPts val="3679"/>
              </a:lnSpc>
            </a:pPr>
            <a:r>
              <a:rPr lang="en-US" b="true" sz="2299" spc="229">
                <a:solidFill>
                  <a:srgbClr val="000000"/>
                </a:solidFill>
                <a:latin typeface="Lato Bold"/>
                <a:ea typeface="Lato Bold"/>
                <a:cs typeface="Lato Bold"/>
                <a:sym typeface="Lato Bold"/>
              </a:rPr>
              <a:t>Mobile Application Development:-</a:t>
            </a:r>
          </a:p>
          <a:p>
            <a:pPr algn="just">
              <a:lnSpc>
                <a:spcPts val="3679"/>
              </a:lnSpc>
            </a:pPr>
            <a:r>
              <a:rPr lang="en-US" sz="2299" spc="229">
                <a:solidFill>
                  <a:srgbClr val="000000"/>
                </a:solidFill>
                <a:latin typeface="Lato"/>
                <a:ea typeface="Lato"/>
                <a:cs typeface="Lato"/>
                <a:sym typeface="Lato"/>
              </a:rPr>
              <a:t>Develop Android &amp; iOS apps to provide on-the-go access for patients and doctors.</a:t>
            </a:r>
          </a:p>
          <a:p>
            <a:pPr algn="just">
              <a:lnSpc>
                <a:spcPts val="3679"/>
              </a:lnSpc>
            </a:pPr>
            <a:r>
              <a:rPr lang="en-US" sz="2299" spc="229">
                <a:solidFill>
                  <a:srgbClr val="000000"/>
                </a:solidFill>
                <a:latin typeface="Lato"/>
                <a:ea typeface="Lato"/>
                <a:cs typeface="Lato"/>
                <a:sym typeface="Lato"/>
              </a:rPr>
              <a:t>Push notifications for appointments, test results, and reminders.</a:t>
            </a:r>
          </a:p>
          <a:p>
            <a:pPr algn="just">
              <a:lnSpc>
                <a:spcPts val="3679"/>
              </a:lnSpc>
            </a:pPr>
            <a:r>
              <a:rPr lang="en-US" b="true" sz="2299" spc="229">
                <a:solidFill>
                  <a:srgbClr val="000000"/>
                </a:solidFill>
                <a:latin typeface="Lato Bold"/>
                <a:ea typeface="Lato Bold"/>
                <a:cs typeface="Lato Bold"/>
                <a:sym typeface="Lato Bold"/>
              </a:rPr>
              <a:t>AI &amp; Predictive Health Analytics:-</a:t>
            </a:r>
          </a:p>
          <a:p>
            <a:pPr algn="just">
              <a:lnSpc>
                <a:spcPts val="3679"/>
              </a:lnSpc>
            </a:pPr>
            <a:r>
              <a:rPr lang="en-US" sz="2299" spc="229">
                <a:solidFill>
                  <a:srgbClr val="000000"/>
                </a:solidFill>
                <a:latin typeface="Lato"/>
                <a:ea typeface="Lato"/>
                <a:cs typeface="Lato"/>
                <a:sym typeface="Lato"/>
              </a:rPr>
              <a:t>Implement AI-based suggestions, such as risk alerts, diagnosis hints, or treatment</a:t>
            </a:r>
          </a:p>
          <a:p>
            <a:pPr algn="just">
              <a:lnSpc>
                <a:spcPts val="3679"/>
              </a:lnSpc>
            </a:pPr>
            <a:r>
              <a:rPr lang="en-US" sz="2299" spc="229">
                <a:solidFill>
                  <a:srgbClr val="000000"/>
                </a:solidFill>
                <a:latin typeface="Lato"/>
                <a:ea typeface="Lato"/>
                <a:cs typeface="Lato"/>
                <a:sym typeface="Lato"/>
              </a:rPr>
              <a:t>recommendations.</a:t>
            </a:r>
          </a:p>
          <a:p>
            <a:pPr algn="just">
              <a:lnSpc>
                <a:spcPts val="3679"/>
              </a:lnSpc>
            </a:pPr>
            <a:r>
              <a:rPr lang="en-US" sz="2299" spc="229">
                <a:solidFill>
                  <a:srgbClr val="000000"/>
                </a:solidFill>
                <a:latin typeface="Lato"/>
                <a:ea typeface="Lato"/>
                <a:cs typeface="Lato"/>
                <a:sym typeface="Lato"/>
              </a:rPr>
              <a:t>Data-driven insights for patient management and hospital efficiency.</a:t>
            </a:r>
          </a:p>
          <a:p>
            <a:pPr algn="just">
              <a:lnSpc>
                <a:spcPts val="3679"/>
              </a:lnSpc>
            </a:pPr>
            <a:r>
              <a:rPr lang="en-US" b="true" sz="2299" spc="229">
                <a:solidFill>
                  <a:srgbClr val="000000"/>
                </a:solidFill>
                <a:latin typeface="Lato Bold"/>
                <a:ea typeface="Lato Bold"/>
                <a:cs typeface="Lato Bold"/>
                <a:sym typeface="Lato Bold"/>
              </a:rPr>
              <a:t>Automated Notifications &amp; Reminders:-</a:t>
            </a:r>
          </a:p>
          <a:p>
            <a:pPr algn="just">
              <a:lnSpc>
                <a:spcPts val="3679"/>
              </a:lnSpc>
            </a:pPr>
            <a:r>
              <a:rPr lang="en-US" sz="2299" spc="229">
                <a:solidFill>
                  <a:srgbClr val="000000"/>
                </a:solidFill>
                <a:latin typeface="Lato"/>
                <a:ea typeface="Lato"/>
                <a:cs typeface="Lato"/>
                <a:sym typeface="Lato"/>
              </a:rPr>
              <a:t>Automated SMS/email/app notifications for</a:t>
            </a:r>
          </a:p>
          <a:p>
            <a:pPr algn="just">
              <a:lnSpc>
                <a:spcPts val="3679"/>
              </a:lnSpc>
            </a:pPr>
            <a:r>
              <a:rPr lang="en-US" sz="2299" spc="229">
                <a:solidFill>
                  <a:srgbClr val="000000"/>
                </a:solidFill>
                <a:latin typeface="Lato"/>
                <a:ea typeface="Lato"/>
                <a:cs typeface="Lato"/>
                <a:sym typeface="Lato"/>
              </a:rPr>
              <a:t>upcoming appointments, lab results, or follow- ups.</a:t>
            </a:r>
          </a:p>
          <a:p>
            <a:pPr algn="just">
              <a:lnSpc>
                <a:spcPts val="3679"/>
              </a:lnSpc>
            </a:pPr>
            <a:r>
              <a:rPr lang="en-US" b="true" sz="2299" spc="229">
                <a:solidFill>
                  <a:srgbClr val="000000"/>
                </a:solidFill>
                <a:latin typeface="Lato Bold"/>
                <a:ea typeface="Lato Bold"/>
                <a:cs typeface="Lato Bold"/>
                <a:sym typeface="Lato Bold"/>
              </a:rPr>
              <a:t>Cloud Deployment &amp; Scalability:-</a:t>
            </a:r>
          </a:p>
          <a:p>
            <a:pPr algn="just">
              <a:lnSpc>
                <a:spcPts val="3679"/>
              </a:lnSpc>
            </a:pPr>
            <a:r>
              <a:rPr lang="en-US" sz="2299" spc="229">
                <a:solidFill>
                  <a:srgbClr val="000000"/>
                </a:solidFill>
                <a:latin typeface="Lato"/>
                <a:ea typeface="Lato"/>
                <a:cs typeface="Lato"/>
                <a:sym typeface="Lato"/>
              </a:rPr>
              <a:t>Deploy on cloud for better performance, security, and scalability.</a:t>
            </a:r>
          </a:p>
          <a:p>
            <a:pPr algn="just" marL="0" indent="0" lvl="0">
              <a:lnSpc>
                <a:spcPts val="3679"/>
              </a:lnSpc>
            </a:pPr>
            <a:r>
              <a:rPr lang="en-US" sz="2299" spc="229">
                <a:solidFill>
                  <a:srgbClr val="000000"/>
                </a:solidFill>
                <a:latin typeface="Lato"/>
                <a:ea typeface="Lato"/>
                <a:cs typeface="Lato"/>
                <a:sym typeface="Lato"/>
              </a:rPr>
              <a:t>Easy integration with additional modules in future.</a:t>
            </a:r>
          </a:p>
          <a:p>
            <a:pPr algn="just" marL="0" indent="0" lvl="0">
              <a:lnSpc>
                <a:spcPts val="3679"/>
              </a:lnSpc>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2958126" y="3970422"/>
            <a:ext cx="12371749" cy="2060405"/>
          </a:xfrm>
          <a:prstGeom prst="rect">
            <a:avLst/>
          </a:prstGeom>
        </p:spPr>
        <p:txBody>
          <a:bodyPr anchor="t" rtlCol="false" tIns="0" lIns="0" bIns="0" rIns="0">
            <a:spAutoFit/>
          </a:bodyPr>
          <a:lstStyle/>
          <a:p>
            <a:pPr algn="ctr" marL="0" indent="0" lvl="0">
              <a:lnSpc>
                <a:spcPts val="16238"/>
              </a:lnSpc>
            </a:pPr>
            <a:r>
              <a:rPr lang="en-US" b="true" sz="11598" spc="579">
                <a:solidFill>
                  <a:srgbClr val="000000"/>
                </a:solidFill>
                <a:latin typeface="Helios Extended Bold"/>
                <a:ea typeface="Helios Extended Bold"/>
                <a:cs typeface="Helios Extended Bold"/>
                <a:sym typeface="Helios Extended Bold"/>
              </a:rPr>
              <a:t>THANK YOU</a:t>
            </a:r>
          </a:p>
        </p:txBody>
      </p:sp>
      <p:grpSp>
        <p:nvGrpSpPr>
          <p:cNvPr name="Group 6" id="6"/>
          <p:cNvGrpSpPr/>
          <p:nvPr/>
        </p:nvGrpSpPr>
        <p:grpSpPr>
          <a:xfrm rot="0">
            <a:off x="1028700" y="9009810"/>
            <a:ext cx="248490" cy="24849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7010810" y="1028700"/>
            <a:ext cx="248490" cy="24849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DAHARjFXakw</dc:identifier>
  <dcterms:modified xsi:type="dcterms:W3CDTF">2011-08-01T06:04:30Z</dcterms:modified>
  <cp:revision>1</cp:revision>
  <dc:title>CAREPOINT</dc:title>
</cp:coreProperties>
</file>